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Glacial Indifference Bold" charset="1" panose="00000800000000000000"/>
      <p:regular r:id="rId24"/>
    </p:embeddedFont>
    <p:embeddedFont>
      <p:font typeface="Glacial Indifference" charset="1" panose="00000000000000000000"/>
      <p:regular r:id="rId25"/>
    </p:embeddedFont>
    <p:embeddedFont>
      <p:font typeface="Open Sans Bold" charset="1" panose="020B0806030504020204"/>
      <p:regular r:id="rId26"/>
    </p:embeddedFont>
    <p:embeddedFont>
      <p:font typeface="Open Sans" charset="1" panose="020B0606030504020204"/>
      <p:regular r:id="rId27"/>
    </p:embeddedFont>
    <p:embeddedFont>
      <p:font typeface="Arimo Bold" charset="1" panose="020B0704020202020204"/>
      <p:regular r:id="rId28"/>
    </p:embeddedFont>
    <p:embeddedFont>
      <p:font typeface="Arimo" charset="1" panose="020B06040202020202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43414" y="-768190"/>
            <a:ext cx="18971676" cy="12411535"/>
          </a:xfrm>
          <a:custGeom>
            <a:avLst/>
            <a:gdLst/>
            <a:ahLst/>
            <a:cxnLst/>
            <a:rect r="r" b="b" t="t" l="l"/>
            <a:pathLst>
              <a:path h="12411535" w="18971676">
                <a:moveTo>
                  <a:pt x="0" y="0"/>
                </a:moveTo>
                <a:lnTo>
                  <a:pt x="18971676" y="0"/>
                </a:lnTo>
                <a:lnTo>
                  <a:pt x="18971676" y="12411535"/>
                </a:lnTo>
                <a:lnTo>
                  <a:pt x="0" y="12411535"/>
                </a:lnTo>
                <a:lnTo>
                  <a:pt x="0" y="0"/>
                </a:lnTo>
                <a:close/>
              </a:path>
            </a:pathLst>
          </a:custGeom>
          <a:blipFill>
            <a:blip r:embed="rId2"/>
            <a:stretch>
              <a:fillRect l="-11156" t="-6687" r="0" b="-6687"/>
            </a:stretch>
          </a:blipFill>
        </p:spPr>
      </p:sp>
      <p:sp>
        <p:nvSpPr>
          <p:cNvPr name="TextBox 3" id="3"/>
          <p:cNvSpPr txBox="true"/>
          <p:nvPr/>
        </p:nvSpPr>
        <p:spPr>
          <a:xfrm rot="0">
            <a:off x="1028700" y="1956236"/>
            <a:ext cx="16191941" cy="5360393"/>
          </a:xfrm>
          <a:prstGeom prst="rect">
            <a:avLst/>
          </a:prstGeom>
        </p:spPr>
        <p:txBody>
          <a:bodyPr anchor="t" rtlCol="false" tIns="0" lIns="0" bIns="0" rIns="0">
            <a:spAutoFit/>
          </a:bodyPr>
          <a:lstStyle/>
          <a:p>
            <a:pPr algn="ctr">
              <a:lnSpc>
                <a:spcPts val="14275"/>
              </a:lnSpc>
              <a:spcBef>
                <a:spcPct val="0"/>
              </a:spcBef>
            </a:pPr>
            <a:r>
              <a:rPr lang="en-US" b="true" sz="10196">
                <a:solidFill>
                  <a:srgbClr val="FFFFFF"/>
                </a:solidFill>
                <a:latin typeface="Glacial Indifference Bold"/>
                <a:ea typeface="Glacial Indifference Bold"/>
                <a:cs typeface="Glacial Indifference Bold"/>
                <a:sym typeface="Glacial Indifference Bold"/>
              </a:rPr>
              <a:t>ANALYSE DES PRIX ALIMENTAIRES MONDIAUX (2015–2025)</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248202" y="2236242"/>
          <a:ext cx="15791595" cy="7022058"/>
        </p:xfrm>
        <a:graphic>
          <a:graphicData uri="http://schemas.openxmlformats.org/drawingml/2006/table">
            <a:tbl>
              <a:tblPr/>
              <a:tblGrid>
                <a:gridCol w="7895798"/>
                <a:gridCol w="7895798"/>
              </a:tblGrid>
              <a:tr h="1807477">
                <a:tc>
                  <a:txBody>
                    <a:bodyPr anchor="t" rtlCol="false"/>
                    <a:lstStyle/>
                    <a:p>
                      <a:pPr algn="ctr">
                        <a:lnSpc>
                          <a:spcPts val="4200"/>
                        </a:lnSpc>
                        <a:defRPr/>
                      </a:pPr>
                      <a:r>
                        <a:rPr lang="en-US" b="true" sz="3000">
                          <a:solidFill>
                            <a:srgbClr val="000000"/>
                          </a:solidFill>
                          <a:latin typeface="Glacial Indifference Bold"/>
                          <a:ea typeface="Glacial Indifference Bold"/>
                          <a:cs typeface="Glacial Indifference Bold"/>
                          <a:sym typeface="Glacial Indifference Bold"/>
                        </a:rPr>
                        <a:t>1.Introduction &amp; Contexte</a:t>
                      </a:r>
                      <a:endParaRPr lang="en-US" sz="1100"/>
                    </a:p>
                  </a:txBody>
                  <a:tcPr marL="57150" marR="57150" marT="57150" marB="571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4200"/>
                        </a:lnSpc>
                        <a:defRPr/>
                      </a:pPr>
                      <a:r>
                        <a:rPr lang="en-US" b="true" sz="3000">
                          <a:solidFill>
                            <a:srgbClr val="000000"/>
                          </a:solidFill>
                          <a:latin typeface="Glacial Indifference Bold"/>
                          <a:ea typeface="Glacial Indifference Bold"/>
                          <a:cs typeface="Glacial Indifference Bold"/>
                          <a:sym typeface="Glacial Indifference Bold"/>
                        </a:rPr>
                        <a:t>2.Problématique &amp; Objectifs</a:t>
                      </a:r>
                      <a:endParaRPr lang="en-US" sz="1100"/>
                    </a:p>
                  </a:txBody>
                  <a:tcPr marL="57150" marR="57150" marT="57150" marB="571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630805">
                <a:tc>
                  <a:txBody>
                    <a:bodyPr anchor="t" rtlCol="false"/>
                    <a:lstStyle/>
                    <a:p>
                      <a:pPr algn="ctr">
                        <a:lnSpc>
                          <a:spcPts val="4200"/>
                        </a:lnSpc>
                        <a:defRPr/>
                      </a:pPr>
                      <a:r>
                        <a:rPr lang="en-US" b="true" sz="3000">
                          <a:solidFill>
                            <a:srgbClr val="000000"/>
                          </a:solidFill>
                          <a:latin typeface="Glacial Indifference Bold"/>
                          <a:ea typeface="Glacial Indifference Bold"/>
                          <a:cs typeface="Glacial Indifference Bold"/>
                          <a:sym typeface="Glacial Indifference Bold"/>
                        </a:rPr>
                        <a:t>3.Sources &amp; Architecture</a:t>
                      </a:r>
                      <a:endParaRPr lang="en-US" sz="1100"/>
                    </a:p>
                  </a:txBody>
                  <a:tcPr marL="57150" marR="57150" marT="57150" marB="571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4200"/>
                        </a:lnSpc>
                        <a:defRPr/>
                      </a:pPr>
                      <a:r>
                        <a:rPr lang="en-US" b="true" sz="3000">
                          <a:solidFill>
                            <a:srgbClr val="000000"/>
                          </a:solidFill>
                          <a:latin typeface="Glacial Indifference Bold"/>
                          <a:ea typeface="Glacial Indifference Bold"/>
                          <a:cs typeface="Glacial Indifference Bold"/>
                          <a:sym typeface="Glacial Indifference Bold"/>
                        </a:rPr>
                        <a:t>4.Méthodologie &amp; Outils</a:t>
                      </a:r>
                      <a:endParaRPr lang="en-US" sz="1100"/>
                    </a:p>
                  </a:txBody>
                  <a:tcPr marL="57150" marR="57150" marT="57150" marB="571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952970">
                <a:tc>
                  <a:txBody>
                    <a:bodyPr anchor="t" rtlCol="false"/>
                    <a:lstStyle/>
                    <a:p>
                      <a:pPr algn="ctr">
                        <a:lnSpc>
                          <a:spcPts val="4200"/>
                        </a:lnSpc>
                        <a:defRPr/>
                      </a:pPr>
                      <a:r>
                        <a:rPr lang="en-US" b="true" sz="3000">
                          <a:solidFill>
                            <a:srgbClr val="000000"/>
                          </a:solidFill>
                          <a:latin typeface="Glacial Indifference Bold"/>
                          <a:ea typeface="Glacial Indifference Bold"/>
                          <a:cs typeface="Glacial Indifference Bold"/>
                          <a:sym typeface="Glacial Indifference Bold"/>
                        </a:rPr>
                        <a:t>5. Etat de la matière</a:t>
                      </a:r>
                      <a:endParaRPr lang="en-US" sz="1100"/>
                    </a:p>
                    <a:p>
                      <a:pPr algn="ctr">
                        <a:lnSpc>
                          <a:spcPts val="4200"/>
                        </a:lnSpc>
                      </a:pPr>
                      <a:r>
                        <a:rPr lang="en-US" b="true" sz="3000">
                          <a:solidFill>
                            <a:srgbClr val="000000"/>
                          </a:solidFill>
                          <a:latin typeface="Glacial Indifference Bold"/>
                          <a:ea typeface="Glacial Indifference Bold"/>
                          <a:cs typeface="Glacial Indifference Bold"/>
                          <a:sym typeface="Glacial Indifference Bold"/>
                        </a:rPr>
                        <a:t>premières (EDA) </a:t>
                      </a:r>
                    </a:p>
                    <a:p>
                      <a:pPr algn="ctr">
                        <a:lnSpc>
                          <a:spcPts val="4200"/>
                        </a:lnSpc>
                      </a:pPr>
                    </a:p>
                  </a:txBody>
                  <a:tcPr marL="57150" marR="57150" marT="57150" marB="571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4200"/>
                        </a:lnSpc>
                        <a:defRPr/>
                      </a:pPr>
                      <a:r>
                        <a:rPr lang="en-US" b="true" sz="3000">
                          <a:solidFill>
                            <a:srgbClr val="000000"/>
                          </a:solidFill>
                          <a:latin typeface="Glacial Indifference Bold"/>
                          <a:ea typeface="Glacial Indifference Bold"/>
                          <a:cs typeface="Glacial Indifference Bold"/>
                          <a:sym typeface="Glacial Indifference Bold"/>
                        </a:rPr>
                        <a:t>6.Modélisations</a:t>
                      </a:r>
                      <a:endParaRPr lang="en-US" sz="1100"/>
                    </a:p>
                  </a:txBody>
                  <a:tcPr marL="57150" marR="57150" marT="57150" marB="571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630805">
                <a:tc>
                  <a:txBody>
                    <a:bodyPr anchor="t" rtlCol="false"/>
                    <a:lstStyle/>
                    <a:p>
                      <a:pPr algn="ctr">
                        <a:lnSpc>
                          <a:spcPts val="4200"/>
                        </a:lnSpc>
                        <a:defRPr/>
                      </a:pPr>
                      <a:r>
                        <a:rPr lang="en-US" b="true" sz="3000">
                          <a:solidFill>
                            <a:srgbClr val="000000"/>
                          </a:solidFill>
                          <a:latin typeface="Glacial Indifference Bold"/>
                          <a:ea typeface="Glacial Indifference Bold"/>
                          <a:cs typeface="Glacial Indifference Bold"/>
                          <a:sym typeface="Glacial Indifference Bold"/>
                        </a:rPr>
                        <a:t>7.Dashboards &amp; Interprétation</a:t>
                      </a:r>
                      <a:endParaRPr lang="en-US" sz="1100"/>
                    </a:p>
                  </a:txBody>
                  <a:tcPr marL="57150" marR="57150" marT="57150" marB="571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4200"/>
                        </a:lnSpc>
                        <a:defRPr/>
                      </a:pPr>
                      <a:r>
                        <a:rPr lang="en-US" b="true" sz="3000">
                          <a:solidFill>
                            <a:srgbClr val="000000"/>
                          </a:solidFill>
                          <a:latin typeface="Glacial Indifference Bold"/>
                          <a:ea typeface="Glacial Indifference Bold"/>
                          <a:cs typeface="Glacial Indifference Bold"/>
                          <a:sym typeface="Glacial Indifference Bold"/>
                        </a:rPr>
                        <a:t>8.Conclusion</a:t>
                      </a:r>
                      <a:endParaRPr lang="en-US" sz="1100"/>
                    </a:p>
                  </a:txBody>
                  <a:tcPr marL="57150" marR="57150" marT="57150" marB="571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963528" y="-190500"/>
            <a:ext cx="20545160" cy="1724383"/>
          </a:xfrm>
          <a:prstGeom prst="rect">
            <a:avLst/>
          </a:prstGeom>
        </p:spPr>
        <p:txBody>
          <a:bodyPr anchor="t" rtlCol="false" tIns="0" lIns="0" bIns="0" rIns="0">
            <a:spAutoFit/>
          </a:bodyPr>
          <a:lstStyle/>
          <a:p>
            <a:pPr algn="ctr">
              <a:lnSpc>
                <a:spcPts val="14155"/>
              </a:lnSpc>
              <a:spcBef>
                <a:spcPct val="0"/>
              </a:spcBef>
            </a:pPr>
            <a:r>
              <a:rPr lang="en-US" b="true" sz="10110">
                <a:solidFill>
                  <a:srgbClr val="000000"/>
                </a:solidFill>
                <a:latin typeface="Glacial Indifference Bold"/>
                <a:ea typeface="Glacial Indifference Bold"/>
                <a:cs typeface="Glacial Indifference Bold"/>
                <a:sym typeface="Glacial Indifference Bold"/>
              </a:rPr>
              <a:t>PLAN DE LA  PRÉSENTATION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472030" y="0"/>
            <a:ext cx="9032718" cy="10544463"/>
          </a:xfrm>
          <a:custGeom>
            <a:avLst/>
            <a:gdLst/>
            <a:ahLst/>
            <a:cxnLst/>
            <a:rect r="r" b="b" t="t" l="l"/>
            <a:pathLst>
              <a:path h="10544463" w="9032718">
                <a:moveTo>
                  <a:pt x="0" y="0"/>
                </a:moveTo>
                <a:lnTo>
                  <a:pt x="9032718" y="0"/>
                </a:lnTo>
                <a:lnTo>
                  <a:pt x="9032718" y="10544463"/>
                </a:lnTo>
                <a:lnTo>
                  <a:pt x="0" y="10544463"/>
                </a:lnTo>
                <a:lnTo>
                  <a:pt x="0" y="0"/>
                </a:lnTo>
                <a:close/>
              </a:path>
            </a:pathLst>
          </a:custGeom>
          <a:blipFill>
            <a:blip r:embed="rId2">
              <a:alphaModFix amt="68000"/>
            </a:blip>
            <a:stretch>
              <a:fillRect l="0" t="-17625" r="0" b="-10949"/>
            </a:stretch>
          </a:blipFill>
        </p:spPr>
      </p:sp>
      <p:sp>
        <p:nvSpPr>
          <p:cNvPr name="TextBox 3" id="3"/>
          <p:cNvSpPr txBox="true"/>
          <p:nvPr/>
        </p:nvSpPr>
        <p:spPr>
          <a:xfrm rot="0">
            <a:off x="663681" y="1199313"/>
            <a:ext cx="9593782" cy="8397240"/>
          </a:xfrm>
          <a:prstGeom prst="rect">
            <a:avLst/>
          </a:prstGeom>
        </p:spPr>
        <p:txBody>
          <a:bodyPr anchor="t" rtlCol="false" tIns="0" lIns="0" bIns="0" rIns="0">
            <a:spAutoFit/>
          </a:bodyPr>
          <a:lstStyle/>
          <a:p>
            <a:pPr algn="l">
              <a:lnSpc>
                <a:spcPts val="5580"/>
              </a:lnSpc>
            </a:pPr>
            <a:r>
              <a:rPr lang="en-US" sz="3000">
                <a:solidFill>
                  <a:srgbClr val="000000"/>
                </a:solidFill>
                <a:latin typeface="Glacial Indifference"/>
                <a:ea typeface="Glacial Indifference"/>
                <a:cs typeface="Glacial Indifference"/>
                <a:sym typeface="Glacial Indifference"/>
              </a:rPr>
              <a:t>Dans un contexte mondial marqué par des crises climatiques, économiques et géopolitiques, les prix alimentaires connaissent d’importantes fluctuations.</a:t>
            </a:r>
          </a:p>
          <a:p>
            <a:pPr algn="l">
              <a:lnSpc>
                <a:spcPts val="5580"/>
              </a:lnSpc>
            </a:pPr>
            <a:r>
              <a:rPr lang="en-US" sz="3000">
                <a:solidFill>
                  <a:srgbClr val="000000"/>
                </a:solidFill>
                <a:latin typeface="Glacial Indifference"/>
                <a:ea typeface="Glacial Indifference"/>
                <a:cs typeface="Glacial Indifference"/>
                <a:sym typeface="Glacial Indifference"/>
              </a:rPr>
              <a:t>Face à ces dynamiques, il devient essentiel de comprendre les facteurs qui influencent l’évolution des prix alimentaires à l’échelle mondiale sur la période 2015–2024</a:t>
            </a:r>
          </a:p>
          <a:p>
            <a:pPr algn="l">
              <a:lnSpc>
                <a:spcPts val="5580"/>
              </a:lnSpc>
            </a:pPr>
            <a:r>
              <a:rPr lang="en-US" sz="3000">
                <a:solidFill>
                  <a:srgbClr val="000000"/>
                </a:solidFill>
                <a:latin typeface="Glacial Indifference"/>
                <a:ea typeface="Glacial Indifference"/>
                <a:cs typeface="Glacial Indifference"/>
                <a:sym typeface="Glacial Indifference"/>
              </a:rPr>
              <a:t>L’étude repose sur l’intégration de données :</a:t>
            </a:r>
          </a:p>
          <a:p>
            <a:pPr algn="l" marL="647700" indent="-323850" lvl="1">
              <a:lnSpc>
                <a:spcPts val="5580"/>
              </a:lnSpc>
              <a:buFont typeface="Arial"/>
              <a:buChar char="•"/>
            </a:pPr>
            <a:r>
              <a:rPr lang="en-US" sz="3000">
                <a:solidFill>
                  <a:srgbClr val="000000"/>
                </a:solidFill>
                <a:latin typeface="Glacial Indifference"/>
                <a:ea typeface="Glacial Indifference"/>
                <a:cs typeface="Glacial Indifference"/>
                <a:sym typeface="Glacial Indifference"/>
              </a:rPr>
              <a:t>Économiques</a:t>
            </a:r>
          </a:p>
          <a:p>
            <a:pPr algn="l" marL="647700" indent="-323850" lvl="1">
              <a:lnSpc>
                <a:spcPts val="5580"/>
              </a:lnSpc>
              <a:buFont typeface="Arial"/>
              <a:buChar char="•"/>
            </a:pPr>
            <a:r>
              <a:rPr lang="en-US" sz="3000">
                <a:solidFill>
                  <a:srgbClr val="000000"/>
                </a:solidFill>
                <a:latin typeface="Glacial Indifference"/>
                <a:ea typeface="Glacial Indifference"/>
                <a:cs typeface="Glacial Indifference"/>
                <a:sym typeface="Glacial Indifference"/>
              </a:rPr>
              <a:t>Climatiques</a:t>
            </a:r>
          </a:p>
          <a:p>
            <a:pPr algn="l" marL="647700" indent="-323850" lvl="1">
              <a:lnSpc>
                <a:spcPts val="5580"/>
              </a:lnSpc>
              <a:buFont typeface="Arial"/>
              <a:buChar char="•"/>
            </a:pPr>
            <a:r>
              <a:rPr lang="en-US" sz="3000">
                <a:solidFill>
                  <a:srgbClr val="000000"/>
                </a:solidFill>
                <a:latin typeface="Glacial Indifference"/>
                <a:ea typeface="Glacial Indifference"/>
                <a:cs typeface="Glacial Indifference"/>
                <a:sym typeface="Glacial Indifference"/>
              </a:rPr>
              <a:t>Agricoles</a:t>
            </a:r>
          </a:p>
          <a:p>
            <a:pPr algn="l" marL="647700" indent="-323850" lvl="1">
              <a:lnSpc>
                <a:spcPts val="5580"/>
              </a:lnSpc>
              <a:buFont typeface="Arial"/>
              <a:buChar char="•"/>
            </a:pPr>
            <a:r>
              <a:rPr lang="en-US" sz="3000">
                <a:solidFill>
                  <a:srgbClr val="000000"/>
                </a:solidFill>
                <a:latin typeface="Glacial Indifference"/>
                <a:ea typeface="Glacial Indifference"/>
                <a:cs typeface="Glacial Indifference"/>
                <a:sym typeface="Glacial Indifference"/>
              </a:rPr>
              <a:t>Macroéconomiques</a:t>
            </a:r>
          </a:p>
        </p:txBody>
      </p:sp>
      <p:sp>
        <p:nvSpPr>
          <p:cNvPr name="TextBox 4" id="4"/>
          <p:cNvSpPr txBox="true"/>
          <p:nvPr/>
        </p:nvSpPr>
        <p:spPr>
          <a:xfrm rot="0">
            <a:off x="1660325" y="288819"/>
            <a:ext cx="6121361" cy="606425"/>
          </a:xfrm>
          <a:prstGeom prst="rect">
            <a:avLst/>
          </a:prstGeom>
        </p:spPr>
        <p:txBody>
          <a:bodyPr anchor="t" rtlCol="false" tIns="0" lIns="0" bIns="0" rIns="0">
            <a:spAutoFit/>
          </a:bodyPr>
          <a:lstStyle/>
          <a:p>
            <a:pPr algn="ctr" marL="0" indent="0" lvl="0">
              <a:lnSpc>
                <a:spcPts val="4900"/>
              </a:lnSpc>
              <a:spcBef>
                <a:spcPct val="0"/>
              </a:spcBef>
            </a:pPr>
            <a:r>
              <a:rPr lang="en-US" b="true" sz="3500" strike="noStrike" u="none">
                <a:solidFill>
                  <a:srgbClr val="000000"/>
                </a:solidFill>
                <a:latin typeface="Glacial Indifference Bold"/>
                <a:ea typeface="Glacial Indifference Bold"/>
                <a:cs typeface="Glacial Indifference Bold"/>
                <a:sym typeface="Glacial Indifference Bold"/>
              </a:rPr>
              <a:t>1.INTRODUCTION &amp; CONTEXTE</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831407" y="1426119"/>
            <a:ext cx="16625187" cy="2036826"/>
            <a:chOff x="0" y="0"/>
            <a:chExt cx="3420820" cy="419100"/>
          </a:xfrm>
        </p:grpSpPr>
        <p:sp>
          <p:nvSpPr>
            <p:cNvPr name="Freeform 3" id="3"/>
            <p:cNvSpPr/>
            <p:nvPr/>
          </p:nvSpPr>
          <p:spPr>
            <a:xfrm flipH="false" flipV="false" rot="0">
              <a:off x="0" y="0"/>
              <a:ext cx="3420820" cy="419100"/>
            </a:xfrm>
            <a:custGeom>
              <a:avLst/>
              <a:gdLst/>
              <a:ahLst/>
              <a:cxnLst/>
              <a:rect r="r" b="b" t="t" l="l"/>
              <a:pathLst>
                <a:path h="419100" w="3420820">
                  <a:moveTo>
                    <a:pt x="9095" y="0"/>
                  </a:moveTo>
                  <a:lnTo>
                    <a:pt x="3411725" y="0"/>
                  </a:lnTo>
                  <a:cubicBezTo>
                    <a:pt x="3416748" y="0"/>
                    <a:pt x="3420820" y="4072"/>
                    <a:pt x="3420820" y="9095"/>
                  </a:cubicBezTo>
                  <a:lnTo>
                    <a:pt x="3420820" y="410005"/>
                  </a:lnTo>
                  <a:cubicBezTo>
                    <a:pt x="3420820" y="415028"/>
                    <a:pt x="3416748" y="419100"/>
                    <a:pt x="3411725" y="419100"/>
                  </a:cubicBezTo>
                  <a:lnTo>
                    <a:pt x="9095" y="419100"/>
                  </a:lnTo>
                  <a:cubicBezTo>
                    <a:pt x="4072" y="419100"/>
                    <a:pt x="0" y="415028"/>
                    <a:pt x="0" y="410005"/>
                  </a:cubicBezTo>
                  <a:lnTo>
                    <a:pt x="0" y="9095"/>
                  </a:lnTo>
                  <a:cubicBezTo>
                    <a:pt x="0" y="4072"/>
                    <a:pt x="4072" y="0"/>
                    <a:pt x="9095" y="0"/>
                  </a:cubicBezTo>
                  <a:close/>
                </a:path>
              </a:pathLst>
            </a:custGeom>
            <a:solidFill>
              <a:srgbClr val="EEF0D2"/>
            </a:solidFill>
          </p:spPr>
        </p:sp>
        <p:sp>
          <p:nvSpPr>
            <p:cNvPr name="TextBox 4" id="4"/>
            <p:cNvSpPr txBox="true"/>
            <p:nvPr/>
          </p:nvSpPr>
          <p:spPr>
            <a:xfrm>
              <a:off x="0" y="-38100"/>
              <a:ext cx="3420820" cy="457200"/>
            </a:xfrm>
            <a:prstGeom prst="rect">
              <a:avLst/>
            </a:prstGeom>
          </p:spPr>
          <p:txBody>
            <a:bodyPr anchor="ctr" rtlCol="false" tIns="50800" lIns="50800" bIns="50800" rIns="50800"/>
            <a:lstStyle/>
            <a:p>
              <a:pPr algn="ctr">
                <a:lnSpc>
                  <a:spcPts val="2659"/>
                </a:lnSpc>
              </a:pPr>
              <a:r>
                <a:rPr lang="en-US" sz="1899" b="true">
                  <a:solidFill>
                    <a:srgbClr val="000000"/>
                  </a:solidFill>
                  <a:latin typeface="Open Sans Bold"/>
                  <a:ea typeface="Open Sans Bold"/>
                  <a:cs typeface="Open Sans Bold"/>
                  <a:sym typeface="Open Sans Bold"/>
                </a:rPr>
                <a:t>Problématique</a:t>
              </a:r>
            </a:p>
            <a:p>
              <a:pPr algn="ctr">
                <a:lnSpc>
                  <a:spcPts val="2659"/>
                </a:lnSpc>
              </a:pPr>
              <a:r>
                <a:rPr lang="en-US" sz="1899">
                  <a:solidFill>
                    <a:srgbClr val="000000"/>
                  </a:solidFill>
                  <a:latin typeface="Open Sans"/>
                  <a:ea typeface="Open Sans"/>
                  <a:cs typeface="Open Sans"/>
                  <a:sym typeface="Open Sans"/>
                </a:rPr>
                <a:t>Quels sont les principaux facteurs économiques et climatiques qui influencent l’évolution des prix alimentaires mondiaux entre 2015 et 2024 ?</a:t>
              </a:r>
            </a:p>
            <a:p>
              <a:pPr algn="ctr">
                <a:lnSpc>
                  <a:spcPts val="2659"/>
                </a:lnSpc>
                <a:spcBef>
                  <a:spcPct val="0"/>
                </a:spcBef>
              </a:pPr>
            </a:p>
          </p:txBody>
        </p:sp>
      </p:grpSp>
      <p:sp>
        <p:nvSpPr>
          <p:cNvPr name="TextBox 5" id="5"/>
          <p:cNvSpPr txBox="true"/>
          <p:nvPr/>
        </p:nvSpPr>
        <p:spPr>
          <a:xfrm rot="0">
            <a:off x="5390945" y="263586"/>
            <a:ext cx="6178748" cy="606425"/>
          </a:xfrm>
          <a:prstGeom prst="rect">
            <a:avLst/>
          </a:prstGeom>
        </p:spPr>
        <p:txBody>
          <a:bodyPr anchor="t" rtlCol="false" tIns="0" lIns="0" bIns="0" rIns="0">
            <a:spAutoFit/>
          </a:bodyPr>
          <a:lstStyle/>
          <a:p>
            <a:pPr algn="ctr">
              <a:lnSpc>
                <a:spcPts val="4900"/>
              </a:lnSpc>
              <a:spcBef>
                <a:spcPct val="0"/>
              </a:spcBef>
            </a:pPr>
            <a:r>
              <a:rPr lang="en-US" b="true" sz="3500">
                <a:solidFill>
                  <a:srgbClr val="000000"/>
                </a:solidFill>
                <a:latin typeface="Glacial Indifference Bold"/>
                <a:ea typeface="Glacial Indifference Bold"/>
                <a:cs typeface="Glacial Indifference Bold"/>
                <a:sym typeface="Glacial Indifference Bold"/>
              </a:rPr>
              <a:t>PROBLÉMATIQUE &amp; OBJECTIFS</a:t>
            </a:r>
          </a:p>
        </p:txBody>
      </p:sp>
      <p:grpSp>
        <p:nvGrpSpPr>
          <p:cNvPr name="Group 6" id="6"/>
          <p:cNvGrpSpPr/>
          <p:nvPr/>
        </p:nvGrpSpPr>
        <p:grpSpPr>
          <a:xfrm rot="0">
            <a:off x="831407" y="4675695"/>
            <a:ext cx="16625187" cy="2036826"/>
            <a:chOff x="0" y="0"/>
            <a:chExt cx="3420820" cy="419100"/>
          </a:xfrm>
        </p:grpSpPr>
        <p:sp>
          <p:nvSpPr>
            <p:cNvPr name="Freeform 7" id="7"/>
            <p:cNvSpPr/>
            <p:nvPr/>
          </p:nvSpPr>
          <p:spPr>
            <a:xfrm flipH="false" flipV="false" rot="0">
              <a:off x="0" y="0"/>
              <a:ext cx="3420820" cy="419100"/>
            </a:xfrm>
            <a:custGeom>
              <a:avLst/>
              <a:gdLst/>
              <a:ahLst/>
              <a:cxnLst/>
              <a:rect r="r" b="b" t="t" l="l"/>
              <a:pathLst>
                <a:path h="419100" w="3420820">
                  <a:moveTo>
                    <a:pt x="9095" y="0"/>
                  </a:moveTo>
                  <a:lnTo>
                    <a:pt x="3411725" y="0"/>
                  </a:lnTo>
                  <a:cubicBezTo>
                    <a:pt x="3416748" y="0"/>
                    <a:pt x="3420820" y="4072"/>
                    <a:pt x="3420820" y="9095"/>
                  </a:cubicBezTo>
                  <a:lnTo>
                    <a:pt x="3420820" y="410005"/>
                  </a:lnTo>
                  <a:cubicBezTo>
                    <a:pt x="3420820" y="415028"/>
                    <a:pt x="3416748" y="419100"/>
                    <a:pt x="3411725" y="419100"/>
                  </a:cubicBezTo>
                  <a:lnTo>
                    <a:pt x="9095" y="419100"/>
                  </a:lnTo>
                  <a:cubicBezTo>
                    <a:pt x="4072" y="419100"/>
                    <a:pt x="0" y="415028"/>
                    <a:pt x="0" y="410005"/>
                  </a:cubicBezTo>
                  <a:lnTo>
                    <a:pt x="0" y="9095"/>
                  </a:lnTo>
                  <a:cubicBezTo>
                    <a:pt x="0" y="4072"/>
                    <a:pt x="4072" y="0"/>
                    <a:pt x="9095" y="0"/>
                  </a:cubicBezTo>
                  <a:close/>
                </a:path>
              </a:pathLst>
            </a:custGeom>
            <a:solidFill>
              <a:srgbClr val="EEF0D2"/>
            </a:solidFill>
          </p:spPr>
        </p:sp>
        <p:sp>
          <p:nvSpPr>
            <p:cNvPr name="TextBox 8" id="8"/>
            <p:cNvSpPr txBox="true"/>
            <p:nvPr/>
          </p:nvSpPr>
          <p:spPr>
            <a:xfrm>
              <a:off x="0" y="-38100"/>
              <a:ext cx="3420820" cy="457200"/>
            </a:xfrm>
            <a:prstGeom prst="rect">
              <a:avLst/>
            </a:prstGeom>
          </p:spPr>
          <p:txBody>
            <a:bodyPr anchor="ctr" rtlCol="false" tIns="50800" lIns="50800" bIns="50800" rIns="50800"/>
            <a:lstStyle/>
            <a:p>
              <a:pPr algn="ctr">
                <a:lnSpc>
                  <a:spcPts val="2659"/>
                </a:lnSpc>
              </a:pPr>
              <a:r>
                <a:rPr lang="en-US" sz="1899" b="true">
                  <a:solidFill>
                    <a:srgbClr val="000000"/>
                  </a:solidFill>
                  <a:latin typeface="Open Sans Bold"/>
                  <a:ea typeface="Open Sans Bold"/>
                  <a:cs typeface="Open Sans Bold"/>
                  <a:sym typeface="Open Sans Bold"/>
                </a:rPr>
                <a:t>Objectif</a:t>
              </a:r>
              <a:r>
                <a:rPr lang="en-US" sz="1899" b="true">
                  <a:solidFill>
                    <a:srgbClr val="000000"/>
                  </a:solidFill>
                  <a:latin typeface="Open Sans Bold"/>
                  <a:ea typeface="Open Sans Bold"/>
                  <a:cs typeface="Open Sans Bold"/>
                  <a:sym typeface="Open Sans Bold"/>
                </a:rPr>
                <a:t> principal</a:t>
              </a:r>
            </a:p>
            <a:p>
              <a:pPr algn="ctr">
                <a:lnSpc>
                  <a:spcPts val="2659"/>
                </a:lnSpc>
              </a:pPr>
              <a:r>
                <a:rPr lang="en-US" sz="1899">
                  <a:solidFill>
                    <a:srgbClr val="000000"/>
                  </a:solidFill>
                  <a:latin typeface="Open Sans"/>
                  <a:ea typeface="Open Sans"/>
                  <a:cs typeface="Open Sans"/>
                  <a:sym typeface="Open Sans"/>
                </a:rPr>
                <a:t>Identifier et mesurer l’impact des variables économiques, climatiques et agricoles sur l’évolution des prix alimentaires mondiaux.</a:t>
              </a:r>
            </a:p>
            <a:p>
              <a:pPr algn="ctr">
                <a:lnSpc>
                  <a:spcPts val="2659"/>
                </a:lnSpc>
                <a:spcBef>
                  <a:spcPct val="0"/>
                </a:spcBef>
              </a:pPr>
            </a:p>
          </p:txBody>
        </p:sp>
      </p:grpSp>
      <p:sp>
        <p:nvSpPr>
          <p:cNvPr name="TextBox 9" id="9"/>
          <p:cNvSpPr txBox="true"/>
          <p:nvPr/>
        </p:nvSpPr>
        <p:spPr>
          <a:xfrm rot="0">
            <a:off x="8045886" y="3774045"/>
            <a:ext cx="1888688"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Glacial Indifference Bold"/>
                <a:ea typeface="Glacial Indifference Bold"/>
                <a:cs typeface="Glacial Indifference Bold"/>
                <a:sym typeface="Glacial Indifference Bold"/>
              </a:rPr>
              <a:t>OBJECTIFS</a:t>
            </a:r>
          </a:p>
        </p:txBody>
      </p:sp>
      <p:grpSp>
        <p:nvGrpSpPr>
          <p:cNvPr name="Group 10" id="10"/>
          <p:cNvGrpSpPr/>
          <p:nvPr/>
        </p:nvGrpSpPr>
        <p:grpSpPr>
          <a:xfrm rot="0">
            <a:off x="831407" y="6929751"/>
            <a:ext cx="16625187" cy="2801569"/>
            <a:chOff x="0" y="0"/>
            <a:chExt cx="3420820" cy="576455"/>
          </a:xfrm>
        </p:grpSpPr>
        <p:sp>
          <p:nvSpPr>
            <p:cNvPr name="Freeform 11" id="11"/>
            <p:cNvSpPr/>
            <p:nvPr/>
          </p:nvSpPr>
          <p:spPr>
            <a:xfrm flipH="false" flipV="false" rot="0">
              <a:off x="0" y="0"/>
              <a:ext cx="3420820" cy="576455"/>
            </a:xfrm>
            <a:custGeom>
              <a:avLst/>
              <a:gdLst/>
              <a:ahLst/>
              <a:cxnLst/>
              <a:rect r="r" b="b" t="t" l="l"/>
              <a:pathLst>
                <a:path h="576455" w="3420820">
                  <a:moveTo>
                    <a:pt x="9095" y="0"/>
                  </a:moveTo>
                  <a:lnTo>
                    <a:pt x="3411725" y="0"/>
                  </a:lnTo>
                  <a:cubicBezTo>
                    <a:pt x="3416748" y="0"/>
                    <a:pt x="3420820" y="4072"/>
                    <a:pt x="3420820" y="9095"/>
                  </a:cubicBezTo>
                  <a:lnTo>
                    <a:pt x="3420820" y="567359"/>
                  </a:lnTo>
                  <a:cubicBezTo>
                    <a:pt x="3420820" y="572383"/>
                    <a:pt x="3416748" y="576455"/>
                    <a:pt x="3411725" y="576455"/>
                  </a:cubicBezTo>
                  <a:lnTo>
                    <a:pt x="9095" y="576455"/>
                  </a:lnTo>
                  <a:cubicBezTo>
                    <a:pt x="4072" y="576455"/>
                    <a:pt x="0" y="572383"/>
                    <a:pt x="0" y="567359"/>
                  </a:cubicBezTo>
                  <a:lnTo>
                    <a:pt x="0" y="9095"/>
                  </a:lnTo>
                  <a:cubicBezTo>
                    <a:pt x="0" y="4072"/>
                    <a:pt x="4072" y="0"/>
                    <a:pt x="9095" y="0"/>
                  </a:cubicBezTo>
                  <a:close/>
                </a:path>
              </a:pathLst>
            </a:custGeom>
            <a:solidFill>
              <a:srgbClr val="EEF0D2"/>
            </a:solidFill>
          </p:spPr>
        </p:sp>
        <p:sp>
          <p:nvSpPr>
            <p:cNvPr name="TextBox 12" id="12"/>
            <p:cNvSpPr txBox="true"/>
            <p:nvPr/>
          </p:nvSpPr>
          <p:spPr>
            <a:xfrm>
              <a:off x="0" y="-38100"/>
              <a:ext cx="3420820" cy="614555"/>
            </a:xfrm>
            <a:prstGeom prst="rect">
              <a:avLst/>
            </a:prstGeom>
          </p:spPr>
          <p:txBody>
            <a:bodyPr anchor="ctr" rtlCol="false" tIns="50800" lIns="50800" bIns="50800" rIns="50800"/>
            <a:lstStyle/>
            <a:p>
              <a:pPr algn="ctr">
                <a:lnSpc>
                  <a:spcPts val="2659"/>
                </a:lnSpc>
              </a:pPr>
            </a:p>
            <a:p>
              <a:pPr algn="l">
                <a:lnSpc>
                  <a:spcPts val="2659"/>
                </a:lnSpc>
              </a:pPr>
              <a:r>
                <a:rPr lang="en-US" sz="1899" b="true">
                  <a:solidFill>
                    <a:srgbClr val="000000"/>
                  </a:solidFill>
                  <a:latin typeface="Open Sans Bold"/>
                  <a:ea typeface="Open Sans Bold"/>
                  <a:cs typeface="Open Sans Bold"/>
                  <a:sym typeface="Open Sans Bold"/>
                </a:rPr>
                <a:t>     </a:t>
              </a:r>
              <a:r>
                <a:rPr lang="en-US" sz="1899" b="true">
                  <a:solidFill>
                    <a:srgbClr val="000000"/>
                  </a:solidFill>
                  <a:latin typeface="Open Sans Bold"/>
                  <a:ea typeface="Open Sans Bold"/>
                  <a:cs typeface="Open Sans Bold"/>
                  <a:sym typeface="Open Sans Bold"/>
                </a:rPr>
                <a:t>Objectifs secondaires</a:t>
              </a:r>
            </a:p>
            <a:p>
              <a:pPr algn="l" marL="410209" indent="-205105" lvl="1">
                <a:lnSpc>
                  <a:spcPts val="2659"/>
                </a:lnSpc>
                <a:buFont typeface="Arial"/>
                <a:buChar char="•"/>
              </a:pPr>
              <a:r>
                <a:rPr lang="en-US" sz="1899">
                  <a:solidFill>
                    <a:srgbClr val="000000"/>
                  </a:solidFill>
                  <a:latin typeface="Open Sans"/>
                  <a:ea typeface="Open Sans"/>
                  <a:cs typeface="Open Sans"/>
                  <a:sym typeface="Open Sans"/>
                </a:rPr>
                <a:t>Identifier les principaux facteurs influençant les prix alimentaires</a:t>
              </a:r>
            </a:p>
            <a:p>
              <a:pPr algn="l" marL="410209" indent="-205105" lvl="1">
                <a:lnSpc>
                  <a:spcPts val="2659"/>
                </a:lnSpc>
                <a:buFont typeface="Arial"/>
                <a:buChar char="•"/>
              </a:pPr>
              <a:r>
                <a:rPr lang="en-US" sz="1899">
                  <a:solidFill>
                    <a:srgbClr val="000000"/>
                  </a:solidFill>
                  <a:latin typeface="Open Sans"/>
                  <a:ea typeface="Open Sans"/>
                  <a:cs typeface="Open Sans"/>
                  <a:sym typeface="Open Sans"/>
                </a:rPr>
                <a:t>Analyser les corrélations entre variables climatiques, économiques et prix</a:t>
              </a:r>
            </a:p>
            <a:p>
              <a:pPr algn="l" marL="410209" indent="-205105" lvl="1">
                <a:lnSpc>
                  <a:spcPts val="2659"/>
                </a:lnSpc>
                <a:buFont typeface="Arial"/>
                <a:buChar char="•"/>
              </a:pPr>
              <a:r>
                <a:rPr lang="en-US" sz="1899">
                  <a:solidFill>
                    <a:srgbClr val="000000"/>
                  </a:solidFill>
                  <a:latin typeface="Open Sans"/>
                  <a:ea typeface="Open Sans"/>
                  <a:cs typeface="Open Sans"/>
                  <a:sym typeface="Open Sans"/>
                </a:rPr>
                <a:t>Évaluer l’impact des variations climatiques et économiques</a:t>
              </a:r>
            </a:p>
            <a:p>
              <a:pPr algn="l" marL="410209" indent="-205105" lvl="1">
                <a:lnSpc>
                  <a:spcPts val="2659"/>
                </a:lnSpc>
                <a:buFont typeface="Arial"/>
                <a:buChar char="•"/>
              </a:pPr>
              <a:r>
                <a:rPr lang="en-US" sz="1899">
                  <a:solidFill>
                    <a:srgbClr val="000000"/>
                  </a:solidFill>
                  <a:latin typeface="Open Sans"/>
                  <a:ea typeface="Open Sans"/>
                  <a:cs typeface="Open Sans"/>
                  <a:sym typeface="Open Sans"/>
                </a:rPr>
                <a:t>Comparer l’influence selon les régions et les types de produits</a:t>
              </a:r>
            </a:p>
            <a:p>
              <a:pPr algn="l" marL="410209" indent="-205105" lvl="1">
                <a:lnSpc>
                  <a:spcPts val="2659"/>
                </a:lnSpc>
                <a:buFont typeface="Arial"/>
                <a:buChar char="•"/>
              </a:pPr>
              <a:r>
                <a:rPr lang="en-US" sz="1899">
                  <a:solidFill>
                    <a:srgbClr val="000000"/>
                  </a:solidFill>
                  <a:latin typeface="Open Sans"/>
                  <a:ea typeface="Open Sans"/>
                  <a:cs typeface="Open Sans"/>
                  <a:sym typeface="Open Sans"/>
                </a:rPr>
                <a:t>Identifier les différences de sensibilité selon les contextes</a:t>
              </a:r>
            </a:p>
            <a:p>
              <a:pPr algn="ctr">
                <a:lnSpc>
                  <a:spcPts val="2659"/>
                </a:lnSpc>
                <a:spcBef>
                  <a:spcPct val="0"/>
                </a:spcBef>
              </a:pPr>
            </a:p>
          </p:txBody>
        </p:sp>
      </p:gr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253558" y="198797"/>
            <a:ext cx="4099560"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Glacial Indifference Bold"/>
                <a:ea typeface="Glacial Indifference Bold"/>
                <a:cs typeface="Glacial Indifference Bold"/>
                <a:sym typeface="Glacial Indifference Bold"/>
              </a:rPr>
              <a:t>SOURCES DE DONNÉES </a:t>
            </a:r>
          </a:p>
        </p:txBody>
      </p:sp>
      <p:graphicFrame>
        <p:nvGraphicFramePr>
          <p:cNvPr name="Table 3" id="3"/>
          <p:cNvGraphicFramePr>
            <a:graphicFrameLocks noGrp="true"/>
          </p:cNvGraphicFramePr>
          <p:nvPr/>
        </p:nvGraphicFramePr>
        <p:xfrm>
          <a:off x="179890" y="1028700"/>
          <a:ext cx="17684870" cy="9010650"/>
        </p:xfrm>
        <a:graphic>
          <a:graphicData uri="http://schemas.openxmlformats.org/drawingml/2006/table">
            <a:tbl>
              <a:tblPr/>
              <a:tblGrid>
                <a:gridCol w="2748431"/>
                <a:gridCol w="14936439"/>
              </a:tblGrid>
              <a:tr h="1605461">
                <a:tc>
                  <a:txBody>
                    <a:bodyPr anchor="t" rtlCol="false"/>
                    <a:lstStyle/>
                    <a:p>
                      <a:pPr algn="ctr">
                        <a:lnSpc>
                          <a:spcPts val="2380"/>
                        </a:lnSpc>
                        <a:defRPr/>
                      </a:pPr>
                      <a:r>
                        <a:rPr lang="en-US" b="true" sz="1700">
                          <a:solidFill>
                            <a:srgbClr val="000000"/>
                          </a:solidFill>
                          <a:latin typeface="Glacial Indifference Bold"/>
                          <a:ea typeface="Glacial Indifference Bold"/>
                          <a:cs typeface="Glacial Indifference Bold"/>
                          <a:sym typeface="Glacial Indifference Bold"/>
                        </a:rPr>
                        <a:t>CSV</a:t>
                      </a:r>
                      <a:endParaRPr lang="en-US" sz="1100"/>
                    </a:p>
                    <a:p>
                      <a:pPr algn="ctr">
                        <a:lnSpc>
                          <a:spcPts val="2380"/>
                        </a:lnSpc>
                      </a:pPr>
                    </a:p>
                  </a:txBody>
                  <a:tcPr marL="0" marR="0" marT="0" marB="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0097B2"/>
                    </a:solidFill>
                  </a:tcPr>
                </a:tc>
                <a:tc>
                  <a:txBody>
                    <a:bodyPr anchor="t" rtlCol="false"/>
                    <a:lstStyle/>
                    <a:p>
                      <a:pPr algn="l">
                        <a:lnSpc>
                          <a:spcPts val="2380"/>
                        </a:lnSpc>
                        <a:defRPr/>
                      </a:pPr>
                      <a:r>
                        <a:rPr lang="en-US" sz="1700" b="true">
                          <a:solidFill>
                            <a:srgbClr val="000000"/>
                          </a:solidFill>
                          <a:latin typeface="Glacial Indifference Bold"/>
                          <a:ea typeface="Glacial Indifference Bold"/>
                          <a:cs typeface="Glacial Indifference Bold"/>
                          <a:sym typeface="Glacial Indifference Bold"/>
                        </a:rPr>
                        <a:t>FAO – Food </a:t>
                      </a:r>
                      <a:r>
                        <a:rPr lang="en-US" b="true" sz="1700">
                          <a:solidFill>
                            <a:srgbClr val="000000"/>
                          </a:solidFill>
                          <a:latin typeface="Glacial Indifference Bold"/>
                          <a:ea typeface="Glacial Indifference Bold"/>
                          <a:cs typeface="Glacial Indifference Bold"/>
                          <a:sym typeface="Glacial Indifference Bold"/>
                        </a:rPr>
                        <a:t>Price Index</a:t>
                      </a:r>
                      <a:endParaRPr lang="en-US" sz="1100"/>
                    </a:p>
                    <a:p>
                      <a:pPr algn="l">
                        <a:lnSpc>
                          <a:spcPts val="2380"/>
                        </a:lnSpc>
                      </a:pPr>
                      <a:r>
                        <a:rPr lang="en-US" sz="1700">
                          <a:solidFill>
                            <a:srgbClr val="000000"/>
                          </a:solidFill>
                          <a:latin typeface="Glacial Indifference"/>
                          <a:ea typeface="Glacial Indifference"/>
                          <a:cs typeface="Glacial Indifference"/>
                          <a:sym typeface="Glacial Indifference"/>
                        </a:rPr>
                        <a:t>Contenu :</a:t>
                      </a:r>
                    </a:p>
                    <a:p>
                      <a:pPr algn="l" marL="367031" indent="-183515" lvl="1">
                        <a:lnSpc>
                          <a:spcPts val="2380"/>
                        </a:lnSpc>
                        <a:buFont typeface="Arial"/>
                        <a:buChar char="•"/>
                      </a:pPr>
                      <a:r>
                        <a:rPr lang="en-US" sz="1700">
                          <a:solidFill>
                            <a:srgbClr val="000000"/>
                          </a:solidFill>
                          <a:latin typeface="Glacial Indifference"/>
                          <a:ea typeface="Glacial Indifference"/>
                          <a:cs typeface="Glacial Indifference"/>
                          <a:sym typeface="Glacial Indifference"/>
                        </a:rPr>
                        <a:t> Indice global des prix alimentaires</a:t>
                      </a:r>
                    </a:p>
                    <a:p>
                      <a:pPr algn="l" marL="367031" indent="-183515" lvl="1">
                        <a:lnSpc>
                          <a:spcPts val="2380"/>
                        </a:lnSpc>
                        <a:buFont typeface="Arial"/>
                        <a:buChar char="•"/>
                      </a:pPr>
                      <a:r>
                        <a:rPr lang="en-US" sz="1700">
                          <a:solidFill>
                            <a:srgbClr val="000000"/>
                          </a:solidFill>
                          <a:latin typeface="Glacial Indifference"/>
                          <a:ea typeface="Glacial Indifference"/>
                          <a:cs typeface="Glacial Indifference"/>
                          <a:sym typeface="Glacial Indifference"/>
                        </a:rPr>
                        <a:t> Indice par catégorie (céréales, sucre, huiles, viande…)</a:t>
                      </a:r>
                    </a:p>
                    <a:p>
                      <a:pPr algn="ctr">
                        <a:lnSpc>
                          <a:spcPts val="2380"/>
                        </a:lnSpc>
                      </a:pPr>
                    </a:p>
                  </a:txBody>
                  <a:tcPr marL="0" marR="0" marT="0" marB="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605461">
                <a:tc>
                  <a:txBody>
                    <a:bodyPr anchor="t" rtlCol="false"/>
                    <a:lstStyle/>
                    <a:p>
                      <a:pPr algn="ctr">
                        <a:lnSpc>
                          <a:spcPts val="2380"/>
                        </a:lnSpc>
                        <a:defRPr/>
                      </a:pPr>
                      <a:r>
                        <a:rPr lang="en-US" sz="1700" b="true">
                          <a:solidFill>
                            <a:srgbClr val="000000"/>
                          </a:solidFill>
                          <a:latin typeface="Glacial Indifference Bold"/>
                          <a:ea typeface="Glacial Indifference Bold"/>
                          <a:cs typeface="Glacial Indifference Bold"/>
                          <a:sym typeface="Glacial Indifference Bold"/>
                        </a:rPr>
                        <a:t>C</a:t>
                      </a:r>
                      <a:r>
                        <a:rPr lang="en-US" b="true" sz="1700">
                          <a:solidFill>
                            <a:srgbClr val="000000"/>
                          </a:solidFill>
                          <a:latin typeface="Glacial Indifference Bold"/>
                          <a:ea typeface="Glacial Indifference Bold"/>
                          <a:cs typeface="Glacial Indifference Bold"/>
                          <a:sym typeface="Glacial Indifference Bold"/>
                        </a:rPr>
                        <a:t>SV</a:t>
                      </a:r>
                      <a:endParaRPr lang="en-US" sz="1100"/>
                    </a:p>
                  </a:txBody>
                  <a:tcPr marL="0" marR="0" marT="0" marB="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B2A340"/>
                    </a:solidFill>
                  </a:tcPr>
                </a:tc>
                <a:tc>
                  <a:txBody>
                    <a:bodyPr anchor="t" rtlCol="false"/>
                    <a:lstStyle/>
                    <a:p>
                      <a:pPr algn="l">
                        <a:lnSpc>
                          <a:spcPts val="2380"/>
                        </a:lnSpc>
                        <a:defRPr/>
                      </a:pPr>
                      <a:r>
                        <a:rPr lang="en-US" sz="1700" b="true">
                          <a:solidFill>
                            <a:srgbClr val="000000"/>
                          </a:solidFill>
                          <a:latin typeface="Glacial Indifference Bold"/>
                          <a:ea typeface="Glacial Indifference Bold"/>
                          <a:cs typeface="Glacial Indifference Bold"/>
                          <a:sym typeface="Glacial Indifference Bold"/>
                        </a:rPr>
                        <a:t>FAO – Fo</a:t>
                      </a:r>
                      <a:r>
                        <a:rPr lang="en-US" sz="1700" b="true">
                          <a:solidFill>
                            <a:srgbClr val="000000"/>
                          </a:solidFill>
                          <a:latin typeface="Glacial Indifference Bold"/>
                          <a:ea typeface="Glacial Indifference Bold"/>
                          <a:cs typeface="Glacial Indifference Bold"/>
                          <a:sym typeface="Glacial Indifference Bold"/>
                        </a:rPr>
                        <a:t>od Price Producer</a:t>
                      </a:r>
                      <a:endParaRPr lang="en-US" sz="1100"/>
                    </a:p>
                    <a:p>
                      <a:pPr algn="l">
                        <a:lnSpc>
                          <a:spcPts val="2380"/>
                        </a:lnSpc>
                      </a:pPr>
                      <a:r>
                        <a:rPr lang="en-US" sz="1700">
                          <a:solidFill>
                            <a:srgbClr val="000000"/>
                          </a:solidFill>
                          <a:latin typeface="Glacial Indifference"/>
                          <a:ea typeface="Glacial Indifference"/>
                          <a:cs typeface="Glacial Indifference"/>
                          <a:sym typeface="Glacial Indifference"/>
                        </a:rPr>
                        <a:t>Contenu :</a:t>
                      </a:r>
                    </a:p>
                    <a:p>
                      <a:pPr algn="l" marL="367031" indent="-183515" lvl="1">
                        <a:lnSpc>
                          <a:spcPts val="2380"/>
                        </a:lnSpc>
                        <a:buFont typeface="Arial"/>
                        <a:buChar char="•"/>
                      </a:pPr>
                      <a:r>
                        <a:rPr lang="en-US" sz="1700">
                          <a:solidFill>
                            <a:srgbClr val="000000"/>
                          </a:solidFill>
                          <a:latin typeface="Glacial Indifference"/>
                          <a:ea typeface="Glacial Indifference"/>
                          <a:cs typeface="Glacial Indifference"/>
                          <a:sym typeface="Glacial Indifference"/>
                        </a:rPr>
                        <a:t> Prix par produit</a:t>
                      </a:r>
                    </a:p>
                    <a:p>
                      <a:pPr algn="l">
                        <a:lnSpc>
                          <a:spcPts val="2380"/>
                        </a:lnSpc>
                      </a:pPr>
                      <a:r>
                        <a:rPr lang="en-US" sz="1700">
                          <a:solidFill>
                            <a:srgbClr val="000000"/>
                          </a:solidFill>
                          <a:latin typeface="Glacial Indifference"/>
                          <a:ea typeface="Glacial Indifference"/>
                          <a:cs typeface="Glacial Indifference"/>
                          <a:sym typeface="Glacial Indifference"/>
                        </a:rPr>
                        <a:t>Rôle :</a:t>
                      </a:r>
                    </a:p>
                    <a:p>
                      <a:pPr algn="l">
                        <a:lnSpc>
                          <a:spcPts val="2380"/>
                        </a:lnSpc>
                      </a:pPr>
                      <a:r>
                        <a:rPr lang="en-US" sz="1700">
                          <a:solidFill>
                            <a:srgbClr val="000000"/>
                          </a:solidFill>
                          <a:latin typeface="Glacial Indifference"/>
                          <a:ea typeface="Glacial Indifference"/>
                          <a:cs typeface="Glacial Indifference"/>
                          <a:sym typeface="Glacial Indifference"/>
                        </a:rPr>
                        <a:t>→ Variable dépendante principale du modèle</a:t>
                      </a:r>
                    </a:p>
                  </a:txBody>
                  <a:tcPr marL="0" marR="0" marT="0" marB="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916519">
                <a:tc>
                  <a:txBody>
                    <a:bodyPr anchor="t" rtlCol="false"/>
                    <a:lstStyle/>
                    <a:p>
                      <a:pPr algn="ctr">
                        <a:lnSpc>
                          <a:spcPts val="2380"/>
                        </a:lnSpc>
                        <a:defRPr/>
                      </a:pPr>
                      <a:r>
                        <a:rPr lang="en-US" sz="1700" b="true">
                          <a:solidFill>
                            <a:srgbClr val="000000"/>
                          </a:solidFill>
                          <a:latin typeface="Glacial Indifference Bold"/>
                          <a:ea typeface="Glacial Indifference Bold"/>
                          <a:cs typeface="Glacial Indifference Bold"/>
                          <a:sym typeface="Glacial Indifference Bold"/>
                        </a:rPr>
                        <a:t>API</a:t>
                      </a:r>
                      <a:endParaRPr lang="en-US" sz="1100"/>
                    </a:p>
                  </a:txBody>
                  <a:tcPr marL="0" marR="0" marT="0" marB="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46BFC7"/>
                    </a:solidFill>
                  </a:tcPr>
                </a:tc>
                <a:tc>
                  <a:txBody>
                    <a:bodyPr anchor="t" rtlCol="false"/>
                    <a:lstStyle/>
                    <a:p>
                      <a:pPr algn="l">
                        <a:lnSpc>
                          <a:spcPts val="2380"/>
                        </a:lnSpc>
                        <a:defRPr/>
                      </a:pPr>
                      <a:r>
                        <a:rPr lang="en-US" sz="1700" b="true">
                          <a:solidFill>
                            <a:srgbClr val="000000"/>
                          </a:solidFill>
                          <a:latin typeface="Glacial Indifference Bold"/>
                          <a:ea typeface="Glacial Indifference Bold"/>
                          <a:cs typeface="Glacial Indifference Bold"/>
                          <a:sym typeface="Glacial Indifference Bold"/>
                        </a:rPr>
                        <a:t>World Bank</a:t>
                      </a:r>
                      <a:endParaRPr lang="en-US" sz="1100"/>
                    </a:p>
                    <a:p>
                      <a:pPr algn="l">
                        <a:lnSpc>
                          <a:spcPts val="2380"/>
                        </a:lnSpc>
                      </a:pPr>
                      <a:r>
                        <a:rPr lang="en-US" sz="1700">
                          <a:solidFill>
                            <a:srgbClr val="000000"/>
                          </a:solidFill>
                          <a:latin typeface="Glacial Indifference"/>
                          <a:ea typeface="Glacial Indifference"/>
                          <a:cs typeface="Glacial Indifference"/>
                          <a:sym typeface="Glacial Indifference"/>
                        </a:rPr>
                        <a:t>Indicateurs :</a:t>
                      </a:r>
                    </a:p>
                    <a:p>
                      <a:pPr algn="l" marL="367031" indent="-183515" lvl="1">
                        <a:lnSpc>
                          <a:spcPts val="2380"/>
                        </a:lnSpc>
                        <a:buFont typeface="Arial"/>
                        <a:buChar char="•"/>
                      </a:pPr>
                      <a:r>
                        <a:rPr lang="en-US" sz="1700">
                          <a:solidFill>
                            <a:srgbClr val="000000"/>
                          </a:solidFill>
                          <a:latin typeface="Glacial Indifference"/>
                          <a:ea typeface="Glacial Indifference"/>
                          <a:cs typeface="Glacial Indifference"/>
                          <a:sym typeface="Glacial Indifference"/>
                        </a:rPr>
                        <a:t>Inflation (CPI)</a:t>
                      </a:r>
                    </a:p>
                    <a:p>
                      <a:pPr algn="l" marL="367031" indent="-183515" lvl="1">
                        <a:lnSpc>
                          <a:spcPts val="2380"/>
                        </a:lnSpc>
                        <a:buFont typeface="Arial"/>
                        <a:buChar char="•"/>
                      </a:pPr>
                      <a:r>
                        <a:rPr lang="en-US" sz="1700">
                          <a:solidFill>
                            <a:srgbClr val="000000"/>
                          </a:solidFill>
                          <a:latin typeface="Glacial Indifference"/>
                          <a:ea typeface="Glacial Indifference"/>
                          <a:cs typeface="Glacial Indifference"/>
                          <a:sym typeface="Glacial Indifference"/>
                        </a:rPr>
                        <a:t>PIB</a:t>
                      </a:r>
                    </a:p>
                    <a:p>
                      <a:pPr algn="l" marL="367031" indent="-183515" lvl="1">
                        <a:lnSpc>
                          <a:spcPts val="2380"/>
                        </a:lnSpc>
                        <a:buFont typeface="Arial"/>
                        <a:buChar char="•"/>
                      </a:pPr>
                      <a:r>
                        <a:rPr lang="en-US" sz="1700">
                          <a:solidFill>
                            <a:srgbClr val="000000"/>
                          </a:solidFill>
                          <a:latin typeface="Glacial Indifference"/>
                          <a:ea typeface="Glacial Indifference"/>
                          <a:cs typeface="Glacial Indifference"/>
                          <a:sym typeface="Glacial Indifference"/>
                        </a:rPr>
                        <a:t>PIB par habitan</a:t>
                      </a:r>
                    </a:p>
                    <a:p>
                      <a:pPr algn="l" marL="367031" indent="-183515" lvl="1">
                        <a:lnSpc>
                          <a:spcPts val="2380"/>
                        </a:lnSpc>
                        <a:buFont typeface="Arial"/>
                        <a:buChar char="•"/>
                      </a:pPr>
                      <a:r>
                        <a:rPr lang="en-US" sz="1700">
                          <a:solidFill>
                            <a:srgbClr val="000000"/>
                          </a:solidFill>
                          <a:latin typeface="Glacial Indifference"/>
                          <a:ea typeface="Glacial Indifference"/>
                          <a:cs typeface="Glacial Indifference"/>
                          <a:sym typeface="Glacial Indifference"/>
                        </a:rPr>
                        <a:t>Population</a:t>
                      </a:r>
                    </a:p>
                  </a:txBody>
                  <a:tcPr marL="0" marR="0" marT="0" marB="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605461">
                <a:tc>
                  <a:txBody>
                    <a:bodyPr anchor="t" rtlCol="false"/>
                    <a:lstStyle/>
                    <a:p>
                      <a:pPr algn="ctr">
                        <a:lnSpc>
                          <a:spcPts val="2380"/>
                        </a:lnSpc>
                        <a:defRPr/>
                      </a:pPr>
                      <a:r>
                        <a:rPr lang="en-US" sz="1700" b="true">
                          <a:solidFill>
                            <a:srgbClr val="000000"/>
                          </a:solidFill>
                          <a:latin typeface="Glacial Indifference Bold"/>
                          <a:ea typeface="Glacial Indifference Bold"/>
                          <a:cs typeface="Glacial Indifference Bold"/>
                          <a:sym typeface="Glacial Indifference Bold"/>
                        </a:rPr>
                        <a:t>csv</a:t>
                      </a:r>
                      <a:endParaRPr lang="en-US" sz="1100"/>
                    </a:p>
                  </a:txBody>
                  <a:tcPr marL="0" marR="0" marT="0" marB="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8A1111"/>
                    </a:solidFill>
                  </a:tcPr>
                </a:tc>
                <a:tc>
                  <a:txBody>
                    <a:bodyPr anchor="t" rtlCol="false"/>
                    <a:lstStyle/>
                    <a:p>
                      <a:pPr algn="l">
                        <a:lnSpc>
                          <a:spcPts val="2380"/>
                        </a:lnSpc>
                        <a:defRPr/>
                      </a:pPr>
                      <a:r>
                        <a:rPr lang="en-US" sz="1700" b="true">
                          <a:solidFill>
                            <a:srgbClr val="000000"/>
                          </a:solidFill>
                          <a:latin typeface="Glacial Indifference Bold"/>
                          <a:ea typeface="Glacial Indifference Bold"/>
                          <a:cs typeface="Glacial Indifference Bold"/>
                          <a:sym typeface="Glacial Indifference Bold"/>
                        </a:rPr>
                        <a:t> FAOSTAT-Agriculture</a:t>
                      </a:r>
                      <a:endParaRPr lang="en-US" sz="1100"/>
                    </a:p>
                    <a:p>
                      <a:pPr algn="l">
                        <a:lnSpc>
                          <a:spcPts val="2380"/>
                        </a:lnSpc>
                      </a:pPr>
                      <a:r>
                        <a:rPr lang="en-US" sz="1700">
                          <a:solidFill>
                            <a:srgbClr val="000000"/>
                          </a:solidFill>
                          <a:latin typeface="Glacial Indifference"/>
                          <a:ea typeface="Glacial Indifference"/>
                          <a:cs typeface="Glacial Indifference"/>
                          <a:sym typeface="Glacial Indifference"/>
                        </a:rPr>
                        <a:t>Indicateurs :</a:t>
                      </a:r>
                    </a:p>
                    <a:p>
                      <a:pPr algn="l" marL="367031" indent="-183515" lvl="1">
                        <a:lnSpc>
                          <a:spcPts val="2380"/>
                        </a:lnSpc>
                        <a:buFont typeface="Arial"/>
                        <a:buChar char="•"/>
                      </a:pPr>
                      <a:r>
                        <a:rPr lang="en-US" sz="1700">
                          <a:solidFill>
                            <a:srgbClr val="000000"/>
                          </a:solidFill>
                          <a:latin typeface="Glacial Indifference"/>
                          <a:ea typeface="Glacial Indifference"/>
                          <a:cs typeface="Glacial Indifference"/>
                          <a:sym typeface="Glacial Indifference"/>
                        </a:rPr>
                        <a:t>Production agricole par pays</a:t>
                      </a:r>
                    </a:p>
                    <a:p>
                      <a:pPr algn="l" marL="367031" indent="-183515" lvl="1">
                        <a:lnSpc>
                          <a:spcPts val="2380"/>
                        </a:lnSpc>
                        <a:buFont typeface="Arial"/>
                        <a:buChar char="•"/>
                      </a:pPr>
                      <a:r>
                        <a:rPr lang="en-US" sz="1700">
                          <a:solidFill>
                            <a:srgbClr val="000000"/>
                          </a:solidFill>
                          <a:latin typeface="Glacial Indifference"/>
                          <a:ea typeface="Glacial Indifference"/>
                          <a:cs typeface="Glacial Indifference"/>
                          <a:sym typeface="Glacial Indifference"/>
                        </a:rPr>
                        <a:t>Valeur de la production</a:t>
                      </a:r>
                    </a:p>
                    <a:p>
                      <a:pPr algn="l" marL="367031" indent="-183515" lvl="1">
                        <a:lnSpc>
                          <a:spcPts val="2380"/>
                        </a:lnSpc>
                        <a:buFont typeface="Arial"/>
                        <a:buChar char="•"/>
                      </a:pPr>
                      <a:r>
                        <a:rPr lang="en-US" sz="1700">
                          <a:solidFill>
                            <a:srgbClr val="000000"/>
                          </a:solidFill>
                          <a:latin typeface="Glacial Indifference"/>
                          <a:ea typeface="Glacial Indifference"/>
                          <a:cs typeface="Glacial Indifference"/>
                          <a:sym typeface="Glacial Indifference"/>
                        </a:rPr>
                        <a:t>Importations / Exportations</a:t>
                      </a:r>
                    </a:p>
                  </a:txBody>
                  <a:tcPr marL="0" marR="0" marT="0" marB="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2277748">
                <a:tc>
                  <a:txBody>
                    <a:bodyPr anchor="t" rtlCol="false"/>
                    <a:lstStyle/>
                    <a:p>
                      <a:pPr algn="ctr">
                        <a:lnSpc>
                          <a:spcPts val="2380"/>
                        </a:lnSpc>
                        <a:defRPr/>
                      </a:pPr>
                      <a:r>
                        <a:rPr lang="en-US" sz="1700" b="true">
                          <a:solidFill>
                            <a:srgbClr val="000000"/>
                          </a:solidFill>
                          <a:latin typeface="Glacial Indifference Bold"/>
                          <a:ea typeface="Glacial Indifference Bold"/>
                          <a:cs typeface="Glacial Indifference Bold"/>
                          <a:sym typeface="Glacial Indifference Bold"/>
                        </a:rPr>
                        <a:t>API</a:t>
                      </a:r>
                      <a:endParaRPr lang="en-US" sz="1100"/>
                    </a:p>
                  </a:txBody>
                  <a:tcPr marL="0" marR="0" marT="0" marB="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6BE35"/>
                    </a:solidFill>
                  </a:tcPr>
                </a:tc>
                <a:tc>
                  <a:txBody>
                    <a:bodyPr anchor="t" rtlCol="false"/>
                    <a:lstStyle/>
                    <a:p>
                      <a:pPr algn="l">
                        <a:lnSpc>
                          <a:spcPts val="2380"/>
                        </a:lnSpc>
                        <a:defRPr/>
                      </a:pPr>
                      <a:r>
                        <a:rPr lang="en-US" sz="1700" b="true">
                          <a:solidFill>
                            <a:srgbClr val="000000"/>
                          </a:solidFill>
                          <a:latin typeface="Open Sans Bold"/>
                          <a:ea typeface="Open Sans Bold"/>
                          <a:cs typeface="Open Sans Bold"/>
                          <a:sym typeface="Open Sans Bold"/>
                        </a:rPr>
                        <a:t>CRU TS – Climatic Research Unit</a:t>
                      </a:r>
                      <a:endParaRPr lang="en-US" sz="1100"/>
                    </a:p>
                    <a:p>
                      <a:pPr algn="l">
                        <a:lnSpc>
                          <a:spcPts val="2380"/>
                        </a:lnSpc>
                      </a:pPr>
                      <a:r>
                        <a:rPr lang="en-US" sz="1700">
                          <a:solidFill>
                            <a:srgbClr val="000000"/>
                          </a:solidFill>
                          <a:latin typeface="Open Sans"/>
                          <a:ea typeface="Open Sans"/>
                          <a:cs typeface="Open Sans"/>
                          <a:sym typeface="Open Sans"/>
                        </a:rPr>
                        <a:t>Variables :</a:t>
                      </a:r>
                    </a:p>
                    <a:p>
                      <a:pPr algn="l" marL="367031" indent="-183515" lvl="1">
                        <a:lnSpc>
                          <a:spcPts val="2380"/>
                        </a:lnSpc>
                        <a:buFont typeface="Arial"/>
                        <a:buChar char="•"/>
                      </a:pPr>
                      <a:r>
                        <a:rPr lang="en-US" sz="1700">
                          <a:solidFill>
                            <a:srgbClr val="000000"/>
                          </a:solidFill>
                          <a:latin typeface="Open Sans"/>
                          <a:ea typeface="Open Sans"/>
                          <a:cs typeface="Open Sans"/>
                          <a:sym typeface="Open Sans"/>
                        </a:rPr>
                        <a:t>Température moyenne (tmp)</a:t>
                      </a:r>
                    </a:p>
                    <a:p>
                      <a:pPr algn="l" marL="367031" indent="-183515" lvl="1">
                        <a:lnSpc>
                          <a:spcPts val="2380"/>
                        </a:lnSpc>
                        <a:buFont typeface="Arial"/>
                        <a:buChar char="•"/>
                      </a:pPr>
                      <a:r>
                        <a:rPr lang="en-US" sz="1700">
                          <a:solidFill>
                            <a:srgbClr val="000000"/>
                          </a:solidFill>
                          <a:latin typeface="Open Sans"/>
                          <a:ea typeface="Open Sans"/>
                          <a:cs typeface="Open Sans"/>
                          <a:sym typeface="Open Sans"/>
                        </a:rPr>
                        <a:t>Précipitations (pre)</a:t>
                      </a:r>
                    </a:p>
                    <a:p>
                      <a:pPr algn="l">
                        <a:lnSpc>
                          <a:spcPts val="2380"/>
                        </a:lnSpc>
                      </a:pPr>
                      <a:r>
                        <a:rPr lang="en-US" sz="1700">
                          <a:solidFill>
                            <a:srgbClr val="000000"/>
                          </a:solidFill>
                          <a:latin typeface="Open Sans"/>
                          <a:ea typeface="Open Sans"/>
                          <a:cs typeface="Open Sans"/>
                          <a:sym typeface="Open Sans"/>
                        </a:rPr>
                        <a:t>Traitement :</a:t>
                      </a:r>
                    </a:p>
                    <a:p>
                      <a:pPr algn="l" marL="367031" indent="-183515" lvl="1">
                        <a:lnSpc>
                          <a:spcPts val="2380"/>
                        </a:lnSpc>
                        <a:buFont typeface="Arial"/>
                        <a:buChar char="•"/>
                      </a:pPr>
                      <a:r>
                        <a:rPr lang="en-US" sz="1700">
                          <a:solidFill>
                            <a:srgbClr val="000000"/>
                          </a:solidFill>
                          <a:latin typeface="Open Sans"/>
                          <a:ea typeface="Open Sans"/>
                          <a:cs typeface="Open Sans"/>
                          <a:sym typeface="Open Sans"/>
                        </a:rPr>
                        <a:t> Conversion en moyenne annuelle</a:t>
                      </a:r>
                    </a:p>
                    <a:p>
                      <a:pPr algn="l" marL="367031" indent="-183515" lvl="1">
                        <a:lnSpc>
                          <a:spcPts val="2380"/>
                        </a:lnSpc>
                        <a:buFont typeface="Arial"/>
                        <a:buChar char="•"/>
                      </a:pPr>
                      <a:r>
                        <a:rPr lang="en-US" sz="1700">
                          <a:solidFill>
                            <a:srgbClr val="000000"/>
                          </a:solidFill>
                          <a:latin typeface="Open Sans"/>
                          <a:ea typeface="Open Sans"/>
                          <a:cs typeface="Open Sans"/>
                          <a:sym typeface="Open Sans"/>
                        </a:rPr>
                        <a:t>Détection d’anomalies climatiques</a:t>
                      </a:r>
                    </a:p>
                  </a:txBody>
                  <a:tcPr marL="0" marR="0" marT="0" marB="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814846" y="248561"/>
            <a:ext cx="2658308"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Glacial Indifference Bold"/>
                <a:ea typeface="Glacial Indifference Bold"/>
                <a:cs typeface="Glacial Indifference Bold"/>
                <a:sym typeface="Glacial Indifference Bold"/>
              </a:rPr>
              <a:t>A</a:t>
            </a:r>
            <a:r>
              <a:rPr lang="en-US" b="true" sz="3000">
                <a:solidFill>
                  <a:srgbClr val="000000"/>
                </a:solidFill>
                <a:latin typeface="Glacial Indifference Bold"/>
                <a:ea typeface="Glacial Indifference Bold"/>
                <a:cs typeface="Glacial Indifference Bold"/>
                <a:sym typeface="Glacial Indifference Bold"/>
              </a:rPr>
              <a:t>RCHITECTURE</a:t>
            </a:r>
          </a:p>
        </p:txBody>
      </p:sp>
      <p:graphicFrame>
        <p:nvGraphicFramePr>
          <p:cNvPr name="Table 3" id="3"/>
          <p:cNvGraphicFramePr>
            <a:graphicFrameLocks noGrp="true"/>
          </p:cNvGraphicFramePr>
          <p:nvPr/>
        </p:nvGraphicFramePr>
        <p:xfrm>
          <a:off x="301565" y="1028700"/>
          <a:ext cx="17684870" cy="9058728"/>
        </p:xfrm>
        <a:graphic>
          <a:graphicData uri="http://schemas.openxmlformats.org/drawingml/2006/table">
            <a:tbl>
              <a:tblPr/>
              <a:tblGrid>
                <a:gridCol w="17684870"/>
              </a:tblGrid>
              <a:tr h="1402960">
                <a:tc>
                  <a:txBody>
                    <a:bodyPr anchor="t" rtlCol="false"/>
                    <a:lstStyle/>
                    <a:p>
                      <a:pPr algn="l">
                        <a:lnSpc>
                          <a:spcPts val="2800"/>
                        </a:lnSpc>
                        <a:defRPr/>
                      </a:pPr>
                      <a:r>
                        <a:rPr lang="en-US" sz="2000" b="true">
                          <a:solidFill>
                            <a:srgbClr val="000000"/>
                          </a:solidFill>
                          <a:latin typeface="Glacial Indifference Bold"/>
                          <a:ea typeface="Glacial Indifference Bold"/>
                          <a:cs typeface="Glacial Indifference Bold"/>
                          <a:sym typeface="Glacial Indifference Bold"/>
                        </a:rPr>
                        <a:t>1. Ext</a:t>
                      </a:r>
                      <a:r>
                        <a:rPr lang="en-US" b="true" sz="2000">
                          <a:solidFill>
                            <a:srgbClr val="000000"/>
                          </a:solidFill>
                          <a:latin typeface="Glacial Indifference Bold"/>
                          <a:ea typeface="Glacial Indifference Bold"/>
                          <a:cs typeface="Glacial Indifference Bold"/>
                          <a:sym typeface="Glacial Indifference Bold"/>
                        </a:rPr>
                        <a:t>raction des données</a:t>
                      </a:r>
                      <a:endParaRPr lang="en-US" sz="1100"/>
                    </a:p>
                    <a:p>
                      <a:pPr algn="l" marL="431801" indent="-215900" lvl="1">
                        <a:lnSpc>
                          <a:spcPts val="2800"/>
                        </a:lnSpc>
                        <a:buFont typeface="Arial"/>
                        <a:buChar char="•"/>
                      </a:pPr>
                      <a:r>
                        <a:rPr lang="en-US" sz="2000">
                          <a:solidFill>
                            <a:srgbClr val="000000"/>
                          </a:solidFill>
                          <a:latin typeface="Glacial Indifference"/>
                          <a:ea typeface="Glacial Indifference"/>
                          <a:cs typeface="Glacial Indifference"/>
                          <a:sym typeface="Glacial Indifference"/>
                        </a:rPr>
                        <a:t>Collecte des données via des API (climatiques, économiques, agricoles)</a:t>
                      </a:r>
                    </a:p>
                    <a:p>
                      <a:pPr algn="l" marL="431801" indent="-215900" lvl="1">
                        <a:lnSpc>
                          <a:spcPts val="2800"/>
                        </a:lnSpc>
                        <a:buFont typeface="Arial"/>
                        <a:buChar char="•"/>
                      </a:pPr>
                      <a:r>
                        <a:rPr lang="en-US" sz="2000">
                          <a:solidFill>
                            <a:srgbClr val="000000"/>
                          </a:solidFill>
                          <a:latin typeface="Glacial Indifference"/>
                          <a:ea typeface="Glacial Indifference"/>
                          <a:cs typeface="Glacial Indifference"/>
                          <a:sym typeface="Glacial Indifference"/>
                        </a:rPr>
                        <a:t>Transformation et sauvegarde des données au format CSV</a:t>
                      </a:r>
                    </a:p>
                  </a:txBody>
                  <a:tcPr marL="66675" marR="66675" marT="66675" marB="66675" anchor="ctr">
                    <a:lnL cmpd="sng" algn="ctr" cap="flat" w="57150">
                      <a:solidFill>
                        <a:srgbClr val="0097B2"/>
                      </a:solidFill>
                      <a:prstDash val="solid"/>
                      <a:round/>
                      <a:headEnd type="none" w="med" len="med"/>
                      <a:tailEnd type="none" w="med" len="med"/>
                    </a:lnL>
                    <a:lnR cmpd="sng" algn="ctr" cap="flat" w="57150">
                      <a:solidFill>
                        <a:srgbClr val="0097B2"/>
                      </a:solidFill>
                      <a:prstDash val="solid"/>
                      <a:round/>
                      <a:headEnd type="none" w="med" len="med"/>
                      <a:tailEnd type="none" w="med" len="med"/>
                    </a:lnR>
                    <a:lnT cmpd="sng" algn="ctr" cap="flat" w="57150">
                      <a:solidFill>
                        <a:srgbClr val="0097B2"/>
                      </a:solidFill>
                      <a:prstDash val="solid"/>
                      <a:round/>
                      <a:headEnd type="none" w="med" len="med"/>
                      <a:tailEnd type="none" w="med" len="med"/>
                    </a:lnT>
                    <a:lnB cmpd="sng" algn="ctr" cap="flat" w="57150">
                      <a:solidFill>
                        <a:srgbClr val="0097B2"/>
                      </a:solidFill>
                      <a:prstDash val="solid"/>
                      <a:round/>
                      <a:headEnd type="none" w="med" len="med"/>
                      <a:tailEnd type="none" w="med" len="med"/>
                    </a:lnB>
                  </a:tcPr>
                </a:tc>
              </a:tr>
              <a:tr h="3270768">
                <a:tc>
                  <a:txBody>
                    <a:bodyPr anchor="t" rtlCol="false"/>
                    <a:lstStyle/>
                    <a:p>
                      <a:pPr algn="l">
                        <a:lnSpc>
                          <a:spcPts val="2800"/>
                        </a:lnSpc>
                        <a:defRPr/>
                      </a:pPr>
                      <a:r>
                        <a:rPr lang="en-US" sz="2000" b="true">
                          <a:solidFill>
                            <a:srgbClr val="000000"/>
                          </a:solidFill>
                          <a:latin typeface="Glacial Indifference Bold"/>
                          <a:ea typeface="Glacial Indifference Bold"/>
                          <a:cs typeface="Glacial Indifference Bold"/>
                          <a:sym typeface="Glacial Indifference Bold"/>
                        </a:rPr>
                        <a:t>2. ED</a:t>
                      </a:r>
                      <a:r>
                        <a:rPr lang="en-US" sz="2000" b="true">
                          <a:solidFill>
                            <a:srgbClr val="000000"/>
                          </a:solidFill>
                          <a:latin typeface="Glacial Indifference Bold"/>
                          <a:ea typeface="Glacial Indifference Bold"/>
                          <a:cs typeface="Glacial Indifference Bold"/>
                          <a:sym typeface="Glacial Indifference Bold"/>
                        </a:rPr>
                        <a:t>A &amp; Nett</a:t>
                      </a:r>
                      <a:r>
                        <a:rPr lang="en-US" sz="2000" b="true">
                          <a:solidFill>
                            <a:srgbClr val="000000"/>
                          </a:solidFill>
                          <a:latin typeface="Glacial Indifference Bold"/>
                          <a:ea typeface="Glacial Indifference Bold"/>
                          <a:cs typeface="Glacial Indifference Bold"/>
                          <a:sym typeface="Glacial Indifference Bold"/>
                        </a:rPr>
                        <a:t>oyage des données</a:t>
                      </a:r>
                      <a:endParaRPr lang="en-US" sz="1100"/>
                    </a:p>
                    <a:p>
                      <a:pPr algn="l" marL="431801" indent="-215900" lvl="1">
                        <a:lnSpc>
                          <a:spcPts val="2800"/>
                        </a:lnSpc>
                        <a:buFont typeface="Arial"/>
                        <a:buChar char="•"/>
                      </a:pPr>
                      <a:r>
                        <a:rPr lang="en-US" sz="2000">
                          <a:solidFill>
                            <a:srgbClr val="000000"/>
                          </a:solidFill>
                          <a:latin typeface="Glacial Indifference"/>
                          <a:ea typeface="Glacial Indifference"/>
                          <a:cs typeface="Glacial Indifference"/>
                          <a:sym typeface="Glacial Indifference"/>
                        </a:rPr>
                        <a:t>Analyse exploratoire des données (EDA) avec Python (Pandas, Matplotlib…)</a:t>
                      </a:r>
                    </a:p>
                    <a:p>
                      <a:pPr algn="l" marL="431801" indent="-215900" lvl="1">
                        <a:lnSpc>
                          <a:spcPts val="2800"/>
                        </a:lnSpc>
                        <a:buFont typeface="Arial"/>
                        <a:buChar char="•"/>
                      </a:pPr>
                      <a:r>
                        <a:rPr lang="en-US" sz="2000">
                          <a:solidFill>
                            <a:srgbClr val="000000"/>
                          </a:solidFill>
                          <a:latin typeface="Glacial Indifference"/>
                          <a:ea typeface="Glacial Indifference"/>
                          <a:cs typeface="Glacial Indifference"/>
                          <a:sym typeface="Glacial Indifference"/>
                        </a:rPr>
                        <a:t>Suppression des régions non pertinentes</a:t>
                      </a:r>
                    </a:p>
                    <a:p>
                      <a:pPr algn="l" marL="431801" indent="-215900" lvl="1">
                        <a:lnSpc>
                          <a:spcPts val="2800"/>
                        </a:lnSpc>
                        <a:buFont typeface="Arial"/>
                        <a:buChar char="•"/>
                      </a:pPr>
                      <a:r>
                        <a:rPr lang="en-US" sz="2000">
                          <a:solidFill>
                            <a:srgbClr val="000000"/>
                          </a:solidFill>
                          <a:latin typeface="Glacial Indifference"/>
                          <a:ea typeface="Glacial Indifference"/>
                          <a:cs typeface="Glacial Indifference"/>
                          <a:sym typeface="Glacial Indifference"/>
                        </a:rPr>
                        <a:t>T</a:t>
                      </a:r>
                      <a:r>
                        <a:rPr lang="en-US" sz="2000">
                          <a:solidFill>
                            <a:srgbClr val="000000"/>
                          </a:solidFill>
                          <a:latin typeface="Glacial Indifference"/>
                          <a:ea typeface="Glacial Indifference"/>
                          <a:cs typeface="Glacial Indifference"/>
                          <a:sym typeface="Glacial Indifference"/>
                        </a:rPr>
                        <a:t>raitement des valeurs manquant</a:t>
                      </a:r>
                      <a:r>
                        <a:rPr lang="en-US" sz="2000">
                          <a:solidFill>
                            <a:srgbClr val="000000"/>
                          </a:solidFill>
                          <a:latin typeface="Glacial Indifference"/>
                          <a:ea typeface="Glacial Indifference"/>
                          <a:cs typeface="Glacial Indifference"/>
                          <a:sym typeface="Glacial Indifference"/>
                        </a:rPr>
                        <a:t>es :</a:t>
                      </a:r>
                    </a:p>
                    <a:p>
                      <a:pPr algn="l" marL="863601" indent="-287867" lvl="2">
                        <a:lnSpc>
                          <a:spcPts val="2800"/>
                        </a:lnSpc>
                        <a:buFont typeface="Arial"/>
                        <a:buChar char="⚬"/>
                      </a:pPr>
                      <a:r>
                        <a:rPr lang="en-US" sz="2000">
                          <a:solidFill>
                            <a:srgbClr val="000000"/>
                          </a:solidFill>
                          <a:latin typeface="Glacial Indifference"/>
                          <a:ea typeface="Glacial Indifference"/>
                          <a:cs typeface="Glacial Indifference"/>
                          <a:sym typeface="Glacial Indifference"/>
                        </a:rPr>
                        <a:t>Remplissage des pays manquants</a:t>
                      </a:r>
                    </a:p>
                    <a:p>
                      <a:pPr algn="l" marL="863601" indent="-287867" lvl="2">
                        <a:lnSpc>
                          <a:spcPts val="2800"/>
                        </a:lnSpc>
                        <a:buFont typeface="Arial"/>
                        <a:buChar char="⚬"/>
                      </a:pPr>
                      <a:r>
                        <a:rPr lang="en-US" sz="2000">
                          <a:solidFill>
                            <a:srgbClr val="000000"/>
                          </a:solidFill>
                          <a:latin typeface="Glacial Indifference"/>
                          <a:ea typeface="Glacial Indifference"/>
                          <a:cs typeface="Glacial Indifference"/>
                          <a:sym typeface="Glacial Indifference"/>
                        </a:rPr>
                        <a:t>Imputation des indicateurs économiques par la médiane du même pays sur d’autres années</a:t>
                      </a:r>
                    </a:p>
                    <a:p>
                      <a:pPr algn="l" marL="431801" indent="-215900" lvl="1">
                        <a:lnSpc>
                          <a:spcPts val="2800"/>
                        </a:lnSpc>
                        <a:buFont typeface="Arial"/>
                        <a:buChar char="•"/>
                      </a:pPr>
                      <a:r>
                        <a:rPr lang="en-US" sz="2000">
                          <a:solidFill>
                            <a:srgbClr val="000000"/>
                          </a:solidFill>
                          <a:latin typeface="Glacial Indifference"/>
                          <a:ea typeface="Glacial Indifference"/>
                          <a:cs typeface="Glacial Indifference"/>
                          <a:sym typeface="Glacial Indifference"/>
                        </a:rPr>
                        <a:t>Sauvegarde des données nettoyées en CSV</a:t>
                      </a:r>
                    </a:p>
                  </a:txBody>
                  <a:tcPr marL="66675" marR="66675" marT="66675" marB="66675" anchor="ctr">
                    <a:lnL cmpd="sng" algn="ctr" cap="flat" w="57150">
                      <a:solidFill>
                        <a:srgbClr val="B2A340"/>
                      </a:solidFill>
                      <a:prstDash val="solid"/>
                      <a:round/>
                      <a:headEnd type="none" w="med" len="med"/>
                      <a:tailEnd type="none" w="med" len="med"/>
                    </a:lnL>
                    <a:lnR cmpd="sng" algn="ctr" cap="flat" w="57150">
                      <a:solidFill>
                        <a:srgbClr val="B2A340"/>
                      </a:solidFill>
                      <a:prstDash val="solid"/>
                      <a:round/>
                      <a:headEnd type="none" w="med" len="med"/>
                      <a:tailEnd type="none" w="med" len="med"/>
                    </a:lnR>
                    <a:lnT cmpd="sng" algn="ctr" cap="flat" w="57150">
                      <a:solidFill>
                        <a:srgbClr val="B2A340"/>
                      </a:solidFill>
                      <a:prstDash val="solid"/>
                      <a:round/>
                      <a:headEnd type="none" w="med" len="med"/>
                      <a:tailEnd type="none" w="med" len="med"/>
                    </a:lnT>
                    <a:lnB cmpd="sng" algn="ctr" cap="flat" w="57150">
                      <a:solidFill>
                        <a:srgbClr val="B2A340"/>
                      </a:solidFill>
                      <a:prstDash val="solid"/>
                      <a:round/>
                      <a:headEnd type="none" w="med" len="med"/>
                      <a:tailEnd type="none" w="med" len="med"/>
                    </a:lnB>
                  </a:tcPr>
                </a:tc>
              </a:tr>
              <a:tr h="1779116">
                <a:tc>
                  <a:txBody>
                    <a:bodyPr anchor="t" rtlCol="false"/>
                    <a:lstStyle/>
                    <a:p>
                      <a:pPr algn="l">
                        <a:lnSpc>
                          <a:spcPts val="2800"/>
                        </a:lnSpc>
                        <a:defRPr/>
                      </a:pPr>
                      <a:r>
                        <a:rPr lang="en-US" sz="2000" b="true">
                          <a:solidFill>
                            <a:srgbClr val="000000"/>
                          </a:solidFill>
                          <a:latin typeface="Glacial Indifference Bold"/>
                          <a:ea typeface="Glacial Indifference Bold"/>
                          <a:cs typeface="Glacial Indifference Bold"/>
                          <a:sym typeface="Glacial Indifference Bold"/>
                        </a:rPr>
                        <a:t>3. M</a:t>
                      </a:r>
                      <a:r>
                        <a:rPr lang="en-US" sz="2000" b="true">
                          <a:solidFill>
                            <a:srgbClr val="000000"/>
                          </a:solidFill>
                          <a:latin typeface="Glacial Indifference Bold"/>
                          <a:ea typeface="Glacial Indifference Bold"/>
                          <a:cs typeface="Glacial Indifference Bold"/>
                          <a:sym typeface="Glacial Indifference Bold"/>
                        </a:rPr>
                        <a:t>odélisation des données (Power BI)</a:t>
                      </a:r>
                      <a:endParaRPr lang="en-US" sz="1100"/>
                    </a:p>
                    <a:p>
                      <a:pPr algn="l" marL="431801" indent="-215900" lvl="1">
                        <a:lnSpc>
                          <a:spcPts val="2800"/>
                        </a:lnSpc>
                        <a:buFont typeface="Arial"/>
                        <a:buChar char="•"/>
                      </a:pPr>
                      <a:r>
                        <a:rPr lang="en-US" sz="2000">
                          <a:solidFill>
                            <a:srgbClr val="000000"/>
                          </a:solidFill>
                          <a:latin typeface="Glacial Indifference"/>
                          <a:ea typeface="Glacial Indifference"/>
                          <a:cs typeface="Glacial Indifference"/>
                          <a:sym typeface="Glacial Indifference"/>
                        </a:rPr>
                        <a:t>Conception d’un schéma en étoile (Star Schema) :</a:t>
                      </a:r>
                    </a:p>
                    <a:p>
                      <a:pPr algn="l" marL="863601" indent="-287867" lvl="2">
                        <a:lnSpc>
                          <a:spcPts val="2800"/>
                        </a:lnSpc>
                        <a:buFont typeface="Arial"/>
                        <a:buChar char="⚬"/>
                      </a:pPr>
                      <a:r>
                        <a:rPr lang="en-US" sz="2000">
                          <a:solidFill>
                            <a:srgbClr val="000000"/>
                          </a:solidFill>
                          <a:latin typeface="Glacial Indifference"/>
                          <a:ea typeface="Glacial Indifference"/>
                          <a:cs typeface="Glacial Indifference"/>
                          <a:sym typeface="Glacial Indifference"/>
                        </a:rPr>
                        <a:t>Tables de </a:t>
                      </a:r>
                      <a:r>
                        <a:rPr lang="en-US" sz="2000">
                          <a:solidFill>
                            <a:srgbClr val="000000"/>
                          </a:solidFill>
                          <a:latin typeface="Glacial Indifference"/>
                          <a:ea typeface="Glacial Indifference"/>
                          <a:cs typeface="Glacial Indifference"/>
                          <a:sym typeface="Glacial Indifference"/>
                        </a:rPr>
                        <a:t>faits : climat, agriculture, indices économiques, prix des produits</a:t>
                      </a:r>
                    </a:p>
                    <a:p>
                      <a:pPr algn="l" marL="863601" indent="-287867" lvl="2">
                        <a:lnSpc>
                          <a:spcPts val="2800"/>
                        </a:lnSpc>
                        <a:buFont typeface="Arial"/>
                        <a:buChar char="⚬"/>
                      </a:pPr>
                      <a:r>
                        <a:rPr lang="en-US" sz="2000">
                          <a:solidFill>
                            <a:srgbClr val="000000"/>
                          </a:solidFill>
                          <a:latin typeface="Glacial Indifference"/>
                          <a:ea typeface="Glacial Indifference"/>
                          <a:cs typeface="Glacial Indifference"/>
                          <a:sym typeface="Glacial Indifference"/>
                        </a:rPr>
                        <a:t>Tables de dimensions : pays, produit, date</a:t>
                      </a:r>
                    </a:p>
                  </a:txBody>
                  <a:tcPr marL="66675" marR="66675" marT="66675" marB="66675" anchor="ctr">
                    <a:lnL cmpd="sng" algn="ctr" cap="flat" w="57150">
                      <a:solidFill>
                        <a:srgbClr val="46BFC7"/>
                      </a:solidFill>
                      <a:prstDash val="solid"/>
                      <a:round/>
                      <a:headEnd type="none" w="med" len="med"/>
                      <a:tailEnd type="none" w="med" len="med"/>
                    </a:lnL>
                    <a:lnR cmpd="sng" algn="ctr" cap="flat" w="57150">
                      <a:solidFill>
                        <a:srgbClr val="46BFC7"/>
                      </a:solidFill>
                      <a:prstDash val="solid"/>
                      <a:round/>
                      <a:headEnd type="none" w="med" len="med"/>
                      <a:tailEnd type="none" w="med" len="med"/>
                    </a:lnR>
                    <a:lnT cmpd="sng" algn="ctr" cap="flat" w="57150">
                      <a:solidFill>
                        <a:srgbClr val="46BFC7"/>
                      </a:solidFill>
                      <a:prstDash val="solid"/>
                      <a:round/>
                      <a:headEnd type="none" w="med" len="med"/>
                      <a:tailEnd type="none" w="med" len="med"/>
                    </a:lnT>
                    <a:lnB cmpd="sng" algn="ctr" cap="flat" w="57150">
                      <a:solidFill>
                        <a:srgbClr val="46BFC7"/>
                      </a:solidFill>
                      <a:prstDash val="solid"/>
                      <a:round/>
                      <a:headEnd type="none" w="med" len="med"/>
                      <a:tailEnd type="none" w="med" len="med"/>
                    </a:lnB>
                  </a:tcPr>
                </a:tc>
              </a:tr>
              <a:tr h="2605882">
                <a:tc>
                  <a:txBody>
                    <a:bodyPr anchor="t" rtlCol="false"/>
                    <a:lstStyle/>
                    <a:p>
                      <a:pPr algn="l">
                        <a:lnSpc>
                          <a:spcPts val="2800"/>
                        </a:lnSpc>
                        <a:defRPr/>
                      </a:pPr>
                      <a:r>
                        <a:rPr lang="en-US" sz="2000" b="true">
                          <a:solidFill>
                            <a:srgbClr val="000000"/>
                          </a:solidFill>
                          <a:latin typeface="Glacial Indifference Bold"/>
                          <a:ea typeface="Glacial Indifference Bold"/>
                          <a:cs typeface="Glacial Indifference Bold"/>
                          <a:sym typeface="Glacial Indifference Bold"/>
                        </a:rPr>
                        <a:t>4. Visualisation &amp; Analyse</a:t>
                      </a:r>
                      <a:endParaRPr lang="en-US" sz="1100"/>
                    </a:p>
                    <a:p>
                      <a:pPr algn="l" marL="431801" indent="-215900" lvl="1">
                        <a:lnSpc>
                          <a:spcPts val="2800"/>
                        </a:lnSpc>
                        <a:buFont typeface="Arial"/>
                        <a:buChar char="•"/>
                      </a:pPr>
                      <a:r>
                        <a:rPr lang="en-US" sz="2000">
                          <a:solidFill>
                            <a:srgbClr val="000000"/>
                          </a:solidFill>
                          <a:latin typeface="Glacial Indifference"/>
                          <a:ea typeface="Glacial Indifference"/>
                          <a:cs typeface="Glacial Indifference"/>
                          <a:sym typeface="Glacial Indifference"/>
                        </a:rPr>
                        <a:t>Création de dashboards inte</a:t>
                      </a:r>
                      <a:r>
                        <a:rPr lang="en-US" sz="2000">
                          <a:solidFill>
                            <a:srgbClr val="000000"/>
                          </a:solidFill>
                          <a:latin typeface="Glacial Indifference"/>
                          <a:ea typeface="Glacial Indifference"/>
                          <a:cs typeface="Glacial Indifference"/>
                          <a:sym typeface="Glacial Indifference"/>
                        </a:rPr>
                        <a:t>ractifs dans Power BI</a:t>
                      </a:r>
                    </a:p>
                    <a:p>
                      <a:pPr algn="l" marL="431801" indent="-215900" lvl="1">
                        <a:lnSpc>
                          <a:spcPts val="2800"/>
                        </a:lnSpc>
                        <a:buFont typeface="Arial"/>
                        <a:buChar char="•"/>
                      </a:pPr>
                      <a:r>
                        <a:rPr lang="en-US" sz="2000">
                          <a:solidFill>
                            <a:srgbClr val="000000"/>
                          </a:solidFill>
                          <a:latin typeface="Glacial Indifference"/>
                          <a:ea typeface="Glacial Indifference"/>
                          <a:cs typeface="Glacial Indifference"/>
                          <a:sym typeface="Glacial Indifference"/>
                        </a:rPr>
                        <a:t>Analyse globale des prix alimentaires</a:t>
                      </a:r>
                    </a:p>
                    <a:p>
                      <a:pPr algn="l" marL="431801" indent="-215900" lvl="1">
                        <a:lnSpc>
                          <a:spcPts val="2800"/>
                        </a:lnSpc>
                        <a:buFont typeface="Arial"/>
                        <a:buChar char="•"/>
                      </a:pPr>
                      <a:r>
                        <a:rPr lang="en-US" sz="2000">
                          <a:solidFill>
                            <a:srgbClr val="000000"/>
                          </a:solidFill>
                          <a:latin typeface="Glacial Indifference"/>
                          <a:ea typeface="Glacial Indifference"/>
                          <a:cs typeface="Glacial Indifference"/>
                          <a:sym typeface="Glacial Indifference"/>
                        </a:rPr>
                        <a:t>Analyse des facteurs économiques</a:t>
                      </a:r>
                    </a:p>
                    <a:p>
                      <a:pPr algn="l" marL="431801" indent="-215900" lvl="1">
                        <a:lnSpc>
                          <a:spcPts val="2800"/>
                        </a:lnSpc>
                        <a:buFont typeface="Arial"/>
                        <a:buChar char="•"/>
                      </a:pPr>
                      <a:r>
                        <a:rPr lang="en-US" sz="2000">
                          <a:solidFill>
                            <a:srgbClr val="000000"/>
                          </a:solidFill>
                          <a:latin typeface="Glacial Indifference"/>
                          <a:ea typeface="Glacial Indifference"/>
                          <a:cs typeface="Glacial Indifference"/>
                          <a:sym typeface="Glacial Indifference"/>
                        </a:rPr>
                        <a:t>Analyse des facteurs agricoles</a:t>
                      </a:r>
                    </a:p>
                    <a:p>
                      <a:pPr algn="l" marL="431801" indent="-215900" lvl="1">
                        <a:lnSpc>
                          <a:spcPts val="2800"/>
                        </a:lnSpc>
                        <a:buFont typeface="Arial"/>
                        <a:buChar char="•"/>
                      </a:pPr>
                      <a:r>
                        <a:rPr lang="en-US" sz="2000">
                          <a:solidFill>
                            <a:srgbClr val="000000"/>
                          </a:solidFill>
                          <a:latin typeface="Glacial Indifference"/>
                          <a:ea typeface="Glacial Indifference"/>
                          <a:cs typeface="Glacial Indifference"/>
                          <a:sym typeface="Glacial Indifference"/>
                        </a:rPr>
                        <a:t>Analyse des facteurs climatiques</a:t>
                      </a:r>
                    </a:p>
                  </a:txBody>
                  <a:tcPr marL="66675" marR="66675" marT="66675" marB="66675" anchor="ctr">
                    <a:lnL cmpd="sng" algn="ctr" cap="flat" w="57150">
                      <a:solidFill>
                        <a:srgbClr val="8A1111"/>
                      </a:solidFill>
                      <a:prstDash val="solid"/>
                      <a:round/>
                      <a:headEnd type="none" w="med" len="med"/>
                      <a:tailEnd type="none" w="med" len="med"/>
                    </a:lnL>
                    <a:lnR cmpd="sng" algn="ctr" cap="flat" w="57150">
                      <a:solidFill>
                        <a:srgbClr val="8A1111"/>
                      </a:solidFill>
                      <a:prstDash val="solid"/>
                      <a:round/>
                      <a:headEnd type="none" w="med" len="med"/>
                      <a:tailEnd type="none" w="med" len="med"/>
                    </a:lnR>
                    <a:lnT cmpd="sng" algn="ctr" cap="flat" w="57150">
                      <a:solidFill>
                        <a:srgbClr val="8A1111"/>
                      </a:solidFill>
                      <a:prstDash val="solid"/>
                      <a:round/>
                      <a:headEnd type="none" w="med" len="med"/>
                      <a:tailEnd type="none" w="med" len="med"/>
                    </a:lnT>
                    <a:lnB cmpd="sng" algn="ctr" cap="flat" w="57150">
                      <a:solidFill>
                        <a:srgbClr val="8A1111"/>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654723" y="5597010"/>
            <a:ext cx="22867397" cy="5884615"/>
          </a:xfrm>
          <a:custGeom>
            <a:avLst/>
            <a:gdLst/>
            <a:ahLst/>
            <a:cxnLst/>
            <a:rect r="r" b="b" t="t" l="l"/>
            <a:pathLst>
              <a:path h="5884615" w="22867397">
                <a:moveTo>
                  <a:pt x="0" y="0"/>
                </a:moveTo>
                <a:lnTo>
                  <a:pt x="22867397" y="0"/>
                </a:lnTo>
                <a:lnTo>
                  <a:pt x="22867397" y="5884615"/>
                </a:lnTo>
                <a:lnTo>
                  <a:pt x="0" y="5884615"/>
                </a:lnTo>
                <a:lnTo>
                  <a:pt x="0" y="0"/>
                </a:lnTo>
                <a:close/>
              </a:path>
            </a:pathLst>
          </a:custGeom>
          <a:blipFill>
            <a:blip r:embed="rId2">
              <a:alphaModFix amt="79000"/>
            </a:blip>
            <a:stretch>
              <a:fillRect l="0" t="-83414" r="0" b="-75650"/>
            </a:stretch>
          </a:blipFill>
        </p:spPr>
      </p:sp>
      <p:sp>
        <p:nvSpPr>
          <p:cNvPr name="TextBox 3" id="3"/>
          <p:cNvSpPr txBox="true"/>
          <p:nvPr/>
        </p:nvSpPr>
        <p:spPr>
          <a:xfrm rot="0">
            <a:off x="7690247" y="248561"/>
            <a:ext cx="2907506"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Glacial Indifference Bold"/>
                <a:ea typeface="Glacial Indifference Bold"/>
                <a:cs typeface="Glacial Indifference Bold"/>
                <a:sym typeface="Glacial Indifference Bold"/>
              </a:rPr>
              <a:t>MÉT</a:t>
            </a:r>
            <a:r>
              <a:rPr lang="en-US" b="true" sz="3000">
                <a:solidFill>
                  <a:srgbClr val="000000"/>
                </a:solidFill>
                <a:latin typeface="Glacial Indifference Bold"/>
                <a:ea typeface="Glacial Indifference Bold"/>
                <a:cs typeface="Glacial Indifference Bold"/>
                <a:sym typeface="Glacial Indifference Bold"/>
              </a:rPr>
              <a:t>HODOLOGIE</a:t>
            </a:r>
          </a:p>
        </p:txBody>
      </p:sp>
      <p:sp>
        <p:nvSpPr>
          <p:cNvPr name="TextBox 4" id="4"/>
          <p:cNvSpPr txBox="true"/>
          <p:nvPr/>
        </p:nvSpPr>
        <p:spPr>
          <a:xfrm rot="0">
            <a:off x="1501140" y="1602035"/>
            <a:ext cx="15285720" cy="3554730"/>
          </a:xfrm>
          <a:prstGeom prst="rect">
            <a:avLst/>
          </a:prstGeom>
        </p:spPr>
        <p:txBody>
          <a:bodyPr anchor="t" rtlCol="false" tIns="0" lIns="0" bIns="0" rIns="0">
            <a:spAutoFit/>
          </a:bodyPr>
          <a:lstStyle/>
          <a:p>
            <a:pPr algn="l" marL="647700" indent="-323850" lvl="1">
              <a:lnSpc>
                <a:spcPts val="5759"/>
              </a:lnSpc>
              <a:buFont typeface="Arial"/>
              <a:buChar char="•"/>
            </a:pPr>
            <a:r>
              <a:rPr lang="en-US" sz="3000">
                <a:solidFill>
                  <a:srgbClr val="000000"/>
                </a:solidFill>
                <a:latin typeface="Glacial Indifference"/>
                <a:ea typeface="Glacial Indifference"/>
                <a:cs typeface="Glacial Indifference"/>
                <a:sym typeface="Glacial Indifference"/>
              </a:rPr>
              <a:t>Analyse de l’évolution des prix alimentaires dans le temps et par pays</a:t>
            </a:r>
          </a:p>
          <a:p>
            <a:pPr algn="l" marL="647700" indent="-323850" lvl="1">
              <a:lnSpc>
                <a:spcPts val="5759"/>
              </a:lnSpc>
              <a:buFont typeface="Arial"/>
              <a:buChar char="•"/>
            </a:pPr>
            <a:r>
              <a:rPr lang="en-US" sz="3000">
                <a:solidFill>
                  <a:srgbClr val="000000"/>
                </a:solidFill>
                <a:latin typeface="Glacial Indifference"/>
                <a:ea typeface="Glacial Indifference"/>
                <a:cs typeface="Glacial Indifference"/>
                <a:sym typeface="Glacial Indifference"/>
              </a:rPr>
              <a:t>Identification des produits les plus chers</a:t>
            </a:r>
          </a:p>
          <a:p>
            <a:pPr algn="l" marL="647700" indent="-323850" lvl="1">
              <a:lnSpc>
                <a:spcPts val="5759"/>
              </a:lnSpc>
              <a:buFont typeface="Arial"/>
              <a:buChar char="•"/>
            </a:pPr>
            <a:r>
              <a:rPr lang="en-US" sz="3000">
                <a:solidFill>
                  <a:srgbClr val="000000"/>
                </a:solidFill>
                <a:latin typeface="Glacial Indifference"/>
                <a:ea typeface="Glacial Indifference"/>
                <a:cs typeface="Glacial Indifference"/>
                <a:sym typeface="Glacial Indifference"/>
              </a:rPr>
              <a:t>Étude de la corrélation entre prix et indicateurs économiques (PIB, PIB/habitant, inflation)</a:t>
            </a:r>
          </a:p>
          <a:p>
            <a:pPr algn="l" marL="647700" indent="-323850" lvl="1">
              <a:lnSpc>
                <a:spcPts val="5759"/>
              </a:lnSpc>
              <a:buFont typeface="Arial"/>
              <a:buChar char="•"/>
            </a:pPr>
            <a:r>
              <a:rPr lang="en-US" sz="3000">
                <a:solidFill>
                  <a:srgbClr val="000000"/>
                </a:solidFill>
                <a:latin typeface="Glacial Indifference"/>
                <a:ea typeface="Glacial Indifference"/>
                <a:cs typeface="Glacial Indifference"/>
                <a:sym typeface="Glacial Indifference"/>
              </a:rPr>
              <a:t>Analyse de l’impact des facteurs climatiques sur la production</a:t>
            </a:r>
          </a:p>
          <a:p>
            <a:pPr algn="l" marL="647700" indent="-323850" lvl="1">
              <a:lnSpc>
                <a:spcPts val="5759"/>
              </a:lnSpc>
              <a:buFont typeface="Arial"/>
              <a:buChar char="•"/>
            </a:pPr>
            <a:r>
              <a:rPr lang="en-US" sz="3000">
                <a:solidFill>
                  <a:srgbClr val="000000"/>
                </a:solidFill>
                <a:latin typeface="Glacial Indifference"/>
                <a:ea typeface="Glacial Indifference"/>
                <a:cs typeface="Glacial Indifference"/>
                <a:sym typeface="Glacial Indifference"/>
              </a:rPr>
              <a:t>Étude de la relation entre la population et la production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298651" y="3333128"/>
          <a:ext cx="17690698" cy="4636530"/>
        </p:xfrm>
        <a:graphic>
          <a:graphicData uri="http://schemas.openxmlformats.org/drawingml/2006/table">
            <a:tbl>
              <a:tblPr/>
              <a:tblGrid>
                <a:gridCol w="5612186"/>
                <a:gridCol w="6389658"/>
                <a:gridCol w="5688854"/>
              </a:tblGrid>
              <a:tr h="4636530">
                <a:tc>
                  <a:txBody>
                    <a:bodyPr anchor="t" rtlCol="false"/>
                    <a:lstStyle/>
                    <a:p>
                      <a:pPr algn="l" marL="647700" indent="-323850" lvl="1">
                        <a:lnSpc>
                          <a:spcPts val="4200"/>
                        </a:lnSpc>
                        <a:buFont typeface="Arial"/>
                        <a:buChar char="•"/>
                        <a:defRPr/>
                      </a:pPr>
                      <a:r>
                        <a:rPr lang="en-US" sz="3000">
                          <a:solidFill>
                            <a:srgbClr val="000000"/>
                          </a:solidFill>
                          <a:latin typeface="Open Sans"/>
                          <a:ea typeface="Open Sans"/>
                          <a:cs typeface="Open Sans"/>
                          <a:sym typeface="Open Sans"/>
                        </a:rPr>
                        <a:t>Pandas, NumPy</a:t>
                      </a:r>
                      <a:endParaRPr lang="en-US" sz="1100"/>
                    </a:p>
                    <a:p>
                      <a:pPr algn="l" marL="647700" indent="-323850" lvl="1">
                        <a:lnSpc>
                          <a:spcPts val="4200"/>
                        </a:lnSpc>
                        <a:buFont typeface="Arial"/>
                        <a:buChar char="•"/>
                      </a:pPr>
                      <a:r>
                        <a:rPr lang="en-US" sz="3000">
                          <a:solidFill>
                            <a:srgbClr val="000000"/>
                          </a:solidFill>
                          <a:latin typeface="Open Sans"/>
                          <a:ea typeface="Open Sans"/>
                          <a:cs typeface="Open Sans"/>
                          <a:sym typeface="Open Sans"/>
                        </a:rPr>
                        <a:t>Requests (API) pour extraction automatique</a:t>
                      </a:r>
                    </a:p>
                    <a:p>
                      <a:pPr algn="l" marL="647700" indent="-323850" lvl="1">
                        <a:lnSpc>
                          <a:spcPts val="4200"/>
                        </a:lnSpc>
                        <a:buFont typeface="Arial"/>
                        <a:buChar char="•"/>
                      </a:pPr>
                      <a:r>
                        <a:rPr lang="en-US" sz="3000">
                          <a:solidFill>
                            <a:srgbClr val="000000"/>
                          </a:solidFill>
                          <a:latin typeface="Open Sans"/>
                          <a:ea typeface="Open Sans"/>
                          <a:cs typeface="Open Sans"/>
                          <a:sym typeface="Open Sans"/>
                        </a:rPr>
                        <a:t>Nettoyage et analyse des données</a:t>
                      </a:r>
                    </a:p>
                  </a:txBody>
                  <a:tcPr marL="85725" marR="85725" marT="85725" marB="85725" anchor="ctr">
                    <a:lnL cmpd="sng" algn="ctr" cap="flat" w="57150">
                      <a:solidFill>
                        <a:srgbClr val="0097B2"/>
                      </a:solidFill>
                      <a:prstDash val="solid"/>
                      <a:round/>
                      <a:headEnd type="none" w="med" len="med"/>
                      <a:tailEnd type="none" w="med" len="med"/>
                    </a:lnL>
                    <a:lnR cmpd="sng" algn="ctr" cap="flat" w="57150">
                      <a:solidFill>
                        <a:srgbClr val="0097B2"/>
                      </a:solidFill>
                      <a:prstDash val="solid"/>
                      <a:round/>
                      <a:headEnd type="none" w="med" len="med"/>
                      <a:tailEnd type="none" w="med" len="med"/>
                    </a:lnR>
                    <a:lnT cmpd="sng" algn="ctr" cap="flat" w="57150">
                      <a:solidFill>
                        <a:srgbClr val="0097B2"/>
                      </a:solidFill>
                      <a:prstDash val="solid"/>
                      <a:round/>
                      <a:headEnd type="none" w="med" len="med"/>
                      <a:tailEnd type="none" w="med" len="med"/>
                    </a:lnT>
                    <a:lnB cmpd="sng" algn="ctr" cap="flat" w="57150">
                      <a:solidFill>
                        <a:srgbClr val="0097B2"/>
                      </a:solidFill>
                      <a:prstDash val="solid"/>
                      <a:round/>
                      <a:headEnd type="none" w="med" len="med"/>
                      <a:tailEnd type="none" w="med" len="med"/>
                    </a:lnB>
                  </a:tcPr>
                </a:tc>
                <a:tc>
                  <a:txBody>
                    <a:bodyPr anchor="t" rtlCol="false"/>
                    <a:lstStyle/>
                    <a:p>
                      <a:pPr algn="l" marL="647700" indent="-323850" lvl="1">
                        <a:lnSpc>
                          <a:spcPts val="4200"/>
                        </a:lnSpc>
                        <a:buFont typeface="Arial"/>
                        <a:buChar char="•"/>
                        <a:defRPr/>
                      </a:pPr>
                      <a:r>
                        <a:rPr lang="en-US" sz="3000">
                          <a:solidFill>
                            <a:srgbClr val="000000"/>
                          </a:solidFill>
                          <a:latin typeface="Glacial Indifference"/>
                          <a:ea typeface="Glacial Indifference"/>
                          <a:cs typeface="Glacial Indifference"/>
                          <a:sym typeface="Glacial Indifference"/>
                        </a:rPr>
                        <a:t>Sta</a:t>
                      </a:r>
                      <a:r>
                        <a:rPr lang="en-US" sz="3000">
                          <a:solidFill>
                            <a:srgbClr val="000000"/>
                          </a:solidFill>
                          <a:latin typeface="Glacial Indifference"/>
                          <a:ea typeface="Glacial Indifference"/>
                          <a:cs typeface="Glacial Indifference"/>
                          <a:sym typeface="Glacial Indifference"/>
                        </a:rPr>
                        <a:t>r Schema (tables faits + dimensions)</a:t>
                      </a:r>
                      <a:endParaRPr lang="en-US" sz="1100"/>
                    </a:p>
                    <a:p>
                      <a:pPr algn="l" marL="647700" indent="-323850" lvl="1">
                        <a:lnSpc>
                          <a:spcPts val="4200"/>
                        </a:lnSpc>
                        <a:buFont typeface="Arial"/>
                        <a:buChar char="•"/>
                      </a:pPr>
                      <a:r>
                        <a:rPr lang="en-US" sz="3000">
                          <a:solidFill>
                            <a:srgbClr val="000000"/>
                          </a:solidFill>
                          <a:latin typeface="Glacial Indifference"/>
                          <a:ea typeface="Glacial Indifference"/>
                          <a:cs typeface="Glacial Indifference"/>
                          <a:sym typeface="Glacial Indifference"/>
                        </a:rPr>
                        <a:t>Mesures DAX</a:t>
                      </a:r>
                    </a:p>
                    <a:p>
                      <a:pPr algn="l" marL="647700" indent="-323850" lvl="1">
                        <a:lnSpc>
                          <a:spcPts val="4200"/>
                        </a:lnSpc>
                        <a:buFont typeface="Arial"/>
                        <a:buChar char="•"/>
                      </a:pPr>
                      <a:r>
                        <a:rPr lang="en-US" sz="3000">
                          <a:solidFill>
                            <a:srgbClr val="000000"/>
                          </a:solidFill>
                          <a:latin typeface="Glacial Indifference"/>
                          <a:ea typeface="Glacial Indifference"/>
                          <a:cs typeface="Glacial Indifference"/>
                          <a:sym typeface="Glacial Indifference"/>
                        </a:rPr>
                        <a:t>Dashboard interactif : slicers, KPI cards, graphiques variés</a:t>
                      </a:r>
                    </a:p>
                    <a:p>
                      <a:pPr algn="ctr">
                        <a:lnSpc>
                          <a:spcPts val="4200"/>
                        </a:lnSpc>
                      </a:pPr>
                    </a:p>
                  </a:txBody>
                  <a:tcPr marL="85725" marR="85725" marT="85725" marB="85725" anchor="ctr">
                    <a:lnL cmpd="sng" algn="ctr" cap="flat" w="57150">
                      <a:solidFill>
                        <a:srgbClr val="F6BE35"/>
                      </a:solidFill>
                      <a:prstDash val="solid"/>
                      <a:round/>
                      <a:headEnd type="none" w="med" len="med"/>
                      <a:tailEnd type="none" w="med" len="med"/>
                    </a:lnL>
                    <a:lnR cmpd="sng" algn="ctr" cap="flat" w="57150">
                      <a:solidFill>
                        <a:srgbClr val="F6BE35"/>
                      </a:solidFill>
                      <a:prstDash val="solid"/>
                      <a:round/>
                      <a:headEnd type="none" w="med" len="med"/>
                      <a:tailEnd type="none" w="med" len="med"/>
                    </a:lnR>
                    <a:lnT cmpd="sng" algn="ctr" cap="flat" w="57150">
                      <a:solidFill>
                        <a:srgbClr val="F6BE35"/>
                      </a:solidFill>
                      <a:prstDash val="solid"/>
                      <a:round/>
                      <a:headEnd type="none" w="med" len="med"/>
                      <a:tailEnd type="none" w="med" len="med"/>
                    </a:lnT>
                    <a:lnB cmpd="sng" algn="ctr" cap="flat" w="57150">
                      <a:solidFill>
                        <a:srgbClr val="F6BE35"/>
                      </a:solidFill>
                      <a:prstDash val="solid"/>
                      <a:round/>
                      <a:headEnd type="none" w="med" len="med"/>
                      <a:tailEnd type="none" w="med" len="med"/>
                    </a:lnB>
                  </a:tcPr>
                </a:tc>
                <a:tc>
                  <a:txBody>
                    <a:bodyPr anchor="t" rtlCol="false"/>
                    <a:lstStyle/>
                    <a:p>
                      <a:pPr algn="l" marL="647700" indent="-323850" lvl="1">
                        <a:lnSpc>
                          <a:spcPts val="4200"/>
                        </a:lnSpc>
                        <a:buFont typeface="Arial"/>
                        <a:buChar char="•"/>
                        <a:defRPr/>
                      </a:pPr>
                      <a:r>
                        <a:rPr lang="en-US" sz="3000">
                          <a:solidFill>
                            <a:srgbClr val="000000"/>
                          </a:solidFill>
                          <a:latin typeface="Open Sans"/>
                          <a:ea typeface="Open Sans"/>
                          <a:cs typeface="Open Sans"/>
                          <a:sym typeface="Open Sans"/>
                        </a:rPr>
                        <a:t>Versioning du code</a:t>
                      </a:r>
                      <a:endParaRPr lang="en-US" sz="1100"/>
                    </a:p>
                    <a:p>
                      <a:pPr algn="l" marL="647700" indent="-323850" lvl="1">
                        <a:lnSpc>
                          <a:spcPts val="4200"/>
                        </a:lnSpc>
                        <a:buFont typeface="Arial"/>
                        <a:buChar char="•"/>
                      </a:pPr>
                      <a:r>
                        <a:rPr lang="en-US" sz="3000">
                          <a:solidFill>
                            <a:srgbClr val="000000"/>
                          </a:solidFill>
                          <a:latin typeface="Open Sans"/>
                          <a:ea typeface="Open Sans"/>
                          <a:cs typeface="Open Sans"/>
                          <a:sym typeface="Open Sans"/>
                        </a:rPr>
                        <a:t>Organisation du projet et des fichiers de données</a:t>
                      </a:r>
                    </a:p>
                  </a:txBody>
                  <a:tcPr marL="85725" marR="85725" marT="85725" marB="85725" anchor="ctr">
                    <a:lnL cmpd="sng" algn="ctr" cap="flat" w="57150">
                      <a:solidFill>
                        <a:srgbClr val="8A1111"/>
                      </a:solidFill>
                      <a:prstDash val="solid"/>
                      <a:round/>
                      <a:headEnd type="none" w="med" len="med"/>
                      <a:tailEnd type="none" w="med" len="med"/>
                    </a:lnL>
                    <a:lnR cmpd="sng" algn="ctr" cap="flat" w="57150">
                      <a:solidFill>
                        <a:srgbClr val="8A1111"/>
                      </a:solidFill>
                      <a:prstDash val="solid"/>
                      <a:round/>
                      <a:headEnd type="none" w="med" len="med"/>
                      <a:tailEnd type="none" w="med" len="med"/>
                    </a:lnR>
                    <a:lnT cmpd="sng" algn="ctr" cap="flat" w="57150">
                      <a:solidFill>
                        <a:srgbClr val="8A1111"/>
                      </a:solidFill>
                      <a:prstDash val="solid"/>
                      <a:round/>
                      <a:headEnd type="none" w="med" len="med"/>
                      <a:tailEnd type="none" w="med" len="med"/>
                    </a:lnT>
                    <a:lnB cmpd="sng" algn="ctr" cap="flat" w="57150">
                      <a:solidFill>
                        <a:srgbClr val="8A1111"/>
                      </a:solidFill>
                      <a:prstDash val="solid"/>
                      <a:round/>
                      <a:headEnd type="none" w="med" len="med"/>
                      <a:tailEnd type="none" w="med" len="med"/>
                    </a:lnB>
                    <a:solidFill>
                      <a:srgbClr val="FFFFFF"/>
                    </a:solidFill>
                  </a:tcPr>
                </a:tc>
              </a:tr>
            </a:tbl>
          </a:graphicData>
        </a:graphic>
      </p:graphicFrame>
      <p:sp>
        <p:nvSpPr>
          <p:cNvPr name="Freeform 3" id="3"/>
          <p:cNvSpPr/>
          <p:nvPr/>
        </p:nvSpPr>
        <p:spPr>
          <a:xfrm flipH="false" flipV="false" rot="0">
            <a:off x="2090589" y="1585109"/>
            <a:ext cx="1537506" cy="1537506"/>
          </a:xfrm>
          <a:custGeom>
            <a:avLst/>
            <a:gdLst/>
            <a:ahLst/>
            <a:cxnLst/>
            <a:rect r="r" b="b" t="t" l="l"/>
            <a:pathLst>
              <a:path h="1537506" w="1537506">
                <a:moveTo>
                  <a:pt x="0" y="0"/>
                </a:moveTo>
                <a:lnTo>
                  <a:pt x="1537507" y="0"/>
                </a:lnTo>
                <a:lnTo>
                  <a:pt x="1537507" y="1537507"/>
                </a:lnTo>
                <a:lnTo>
                  <a:pt x="0" y="15375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7928548" y="1761744"/>
            <a:ext cx="1417380" cy="1438301"/>
          </a:xfrm>
          <a:custGeom>
            <a:avLst/>
            <a:gdLst/>
            <a:ahLst/>
            <a:cxnLst/>
            <a:rect r="r" b="b" t="t" l="l"/>
            <a:pathLst>
              <a:path h="1438301" w="1417380">
                <a:moveTo>
                  <a:pt x="0" y="0"/>
                </a:moveTo>
                <a:lnTo>
                  <a:pt x="1417380" y="0"/>
                </a:lnTo>
                <a:lnTo>
                  <a:pt x="1417380" y="1438301"/>
                </a:lnTo>
                <a:lnTo>
                  <a:pt x="0" y="1438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232229" y="1585109"/>
            <a:ext cx="1614936" cy="1614936"/>
          </a:xfrm>
          <a:custGeom>
            <a:avLst/>
            <a:gdLst/>
            <a:ahLst/>
            <a:cxnLst/>
            <a:rect r="r" b="b" t="t" l="l"/>
            <a:pathLst>
              <a:path h="1614936" w="1614936">
                <a:moveTo>
                  <a:pt x="0" y="0"/>
                </a:moveTo>
                <a:lnTo>
                  <a:pt x="1614936" y="0"/>
                </a:lnTo>
                <a:lnTo>
                  <a:pt x="1614936" y="1614936"/>
                </a:lnTo>
                <a:lnTo>
                  <a:pt x="0" y="16149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7378807" y="149633"/>
            <a:ext cx="2516862" cy="1012192"/>
          </a:xfrm>
          <a:prstGeom prst="rect">
            <a:avLst/>
          </a:prstGeom>
        </p:spPr>
        <p:txBody>
          <a:bodyPr anchor="t" rtlCol="false" tIns="0" lIns="0" bIns="0" rIns="0">
            <a:spAutoFit/>
          </a:bodyPr>
          <a:lstStyle/>
          <a:p>
            <a:pPr algn="ctr">
              <a:lnSpc>
                <a:spcPts val="8259"/>
              </a:lnSpc>
              <a:spcBef>
                <a:spcPct val="0"/>
              </a:spcBef>
            </a:pPr>
            <a:r>
              <a:rPr lang="en-US" b="true" sz="5899">
                <a:solidFill>
                  <a:srgbClr val="000000"/>
                </a:solidFill>
                <a:latin typeface="Glacial Indifference Bold"/>
                <a:ea typeface="Glacial Indifference Bold"/>
                <a:cs typeface="Glacial Indifference Bold"/>
                <a:sym typeface="Glacial Indifference Bold"/>
              </a:rPr>
              <a:t>OUTI</a:t>
            </a:r>
            <a:r>
              <a:rPr lang="en-US" b="true" sz="5899">
                <a:solidFill>
                  <a:srgbClr val="000000"/>
                </a:solidFill>
                <a:latin typeface="Glacial Indifference Bold"/>
                <a:ea typeface="Glacial Indifference Bold"/>
                <a:cs typeface="Glacial Indifference Bold"/>
                <a:sym typeface="Glacial Indifference Bold"/>
              </a:rPr>
              <a:t>LS</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722225" y="197258"/>
            <a:ext cx="8427339"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Glacial Indifference Bold"/>
                <a:ea typeface="Glacial Indifference Bold"/>
                <a:cs typeface="Glacial Indifference Bold"/>
                <a:sym typeface="Glacial Indifference Bold"/>
              </a:rPr>
              <a:t>ETAT DE LA MATIÈRE  PREMIÈRE</a:t>
            </a:r>
            <a:r>
              <a:rPr lang="en-US" b="true" sz="3000">
                <a:solidFill>
                  <a:srgbClr val="000000"/>
                </a:solidFill>
                <a:latin typeface="Glacial Indifference Bold"/>
                <a:ea typeface="Glacial Indifference Bold"/>
                <a:cs typeface="Glacial Indifference Bold"/>
                <a:sym typeface="Glacial Indifference Bold"/>
              </a:rPr>
              <a:t>S (EDA) </a:t>
            </a:r>
          </a:p>
        </p:txBody>
      </p:sp>
      <p:graphicFrame>
        <p:nvGraphicFramePr>
          <p:cNvPr name="Table 3" id="3"/>
          <p:cNvGraphicFramePr>
            <a:graphicFrameLocks noGrp="true"/>
          </p:cNvGraphicFramePr>
          <p:nvPr/>
        </p:nvGraphicFramePr>
        <p:xfrm>
          <a:off x="256466" y="1382663"/>
          <a:ext cx="17845556" cy="8377190"/>
        </p:xfrm>
        <a:graphic>
          <a:graphicData uri="http://schemas.openxmlformats.org/drawingml/2006/table">
            <a:tbl>
              <a:tblPr/>
              <a:tblGrid>
                <a:gridCol w="5685737"/>
                <a:gridCol w="6164556"/>
                <a:gridCol w="5995263"/>
              </a:tblGrid>
              <a:tr h="784556">
                <a:tc>
                  <a:txBody>
                    <a:bodyPr anchor="t" rtlCol="false"/>
                    <a:lstStyle/>
                    <a:p>
                      <a:pPr algn="ctr">
                        <a:lnSpc>
                          <a:spcPts val="2800"/>
                        </a:lnSpc>
                        <a:defRPr/>
                      </a:pPr>
                      <a:r>
                        <a:rPr lang="en-US" sz="2000" b="true">
                          <a:solidFill>
                            <a:srgbClr val="000000"/>
                          </a:solidFill>
                          <a:latin typeface="Arimo Bold"/>
                          <a:ea typeface="Arimo Bold"/>
                          <a:cs typeface="Arimo Bold"/>
                          <a:sym typeface="Arimo Bold"/>
                        </a:rPr>
                        <a:t>EDA</a:t>
                      </a:r>
                      <a:endParaRPr lang="en-US" sz="1100"/>
                    </a:p>
                  </a:txBody>
                  <a:tcPr marL="85725" marR="85725" marT="85725" marB="85725" anchor="ctr">
                    <a:lnL cmpd="sng" algn="ctr" cap="flat" w="57150">
                      <a:solidFill>
                        <a:srgbClr val="0097B2"/>
                      </a:solidFill>
                      <a:prstDash val="solid"/>
                      <a:round/>
                      <a:headEnd type="none" w="med" len="med"/>
                      <a:tailEnd type="none" w="med" len="med"/>
                    </a:lnL>
                    <a:lnR cmpd="sng" algn="ctr" cap="flat" w="57150">
                      <a:solidFill>
                        <a:srgbClr val="0097B2"/>
                      </a:solidFill>
                      <a:prstDash val="solid"/>
                      <a:round/>
                      <a:headEnd type="none" w="med" len="med"/>
                      <a:tailEnd type="none" w="med" len="med"/>
                    </a:lnR>
                    <a:lnT cmpd="sng" algn="ctr" cap="flat" w="57150">
                      <a:solidFill>
                        <a:srgbClr val="0097B2"/>
                      </a:solidFill>
                      <a:prstDash val="solid"/>
                      <a:round/>
                      <a:headEnd type="none" w="med" len="med"/>
                      <a:tailEnd type="none" w="med" len="med"/>
                    </a:lnT>
                    <a:lnB cmpd="sng" algn="ctr" cap="flat" w="57150">
                      <a:solidFill>
                        <a:srgbClr val="0097B2"/>
                      </a:solidFill>
                      <a:prstDash val="solid"/>
                      <a:round/>
                      <a:headEnd type="none" w="med" len="med"/>
                      <a:tailEnd type="none" w="med" len="med"/>
                    </a:lnB>
                    <a:solidFill>
                      <a:srgbClr val="0097B2"/>
                    </a:solidFill>
                  </a:tcPr>
                </a:tc>
                <a:tc>
                  <a:txBody>
                    <a:bodyPr anchor="t" rtlCol="false"/>
                    <a:lstStyle/>
                    <a:p>
                      <a:pPr algn="ctr">
                        <a:lnSpc>
                          <a:spcPts val="2800"/>
                        </a:lnSpc>
                        <a:defRPr/>
                      </a:pPr>
                      <a:r>
                        <a:rPr lang="en-US" sz="2000" b="true">
                          <a:solidFill>
                            <a:srgbClr val="000000"/>
                          </a:solidFill>
                          <a:latin typeface="Arimo Bold"/>
                          <a:ea typeface="Arimo Bold"/>
                          <a:cs typeface="Arimo Bold"/>
                          <a:sym typeface="Arimo Bold"/>
                        </a:rPr>
                        <a:t>Qualité des données</a:t>
                      </a:r>
                      <a:endParaRPr lang="en-US" sz="1100"/>
                    </a:p>
                  </a:txBody>
                  <a:tcPr marL="85725" marR="85725" marT="85725" marB="85725" anchor="ctr">
                    <a:lnL cmpd="sng" algn="ctr" cap="flat" w="57150">
                      <a:solidFill>
                        <a:srgbClr val="F6BE35"/>
                      </a:solidFill>
                      <a:prstDash val="solid"/>
                      <a:round/>
                      <a:headEnd type="none" w="med" len="med"/>
                      <a:tailEnd type="none" w="med" len="med"/>
                    </a:lnL>
                    <a:lnR cmpd="sng" algn="ctr" cap="flat" w="57150">
                      <a:solidFill>
                        <a:srgbClr val="F6BE35"/>
                      </a:solidFill>
                      <a:prstDash val="solid"/>
                      <a:round/>
                      <a:headEnd type="none" w="med" len="med"/>
                      <a:tailEnd type="none" w="med" len="med"/>
                    </a:lnR>
                    <a:lnT cmpd="sng" algn="ctr" cap="flat" w="57150">
                      <a:solidFill>
                        <a:srgbClr val="F6BE35"/>
                      </a:solidFill>
                      <a:prstDash val="solid"/>
                      <a:round/>
                      <a:headEnd type="none" w="med" len="med"/>
                      <a:tailEnd type="none" w="med" len="med"/>
                    </a:lnT>
                    <a:lnB cmpd="sng" algn="ctr" cap="flat" w="57150">
                      <a:solidFill>
                        <a:srgbClr val="F6BE35"/>
                      </a:solidFill>
                      <a:prstDash val="solid"/>
                      <a:round/>
                      <a:headEnd type="none" w="med" len="med"/>
                      <a:tailEnd type="none" w="med" len="med"/>
                    </a:lnB>
                    <a:solidFill>
                      <a:srgbClr val="F6BE35"/>
                    </a:solidFill>
                  </a:tcPr>
                </a:tc>
                <a:tc>
                  <a:txBody>
                    <a:bodyPr anchor="t" rtlCol="false"/>
                    <a:lstStyle/>
                    <a:p>
                      <a:pPr algn="ctr">
                        <a:lnSpc>
                          <a:spcPts val="2800"/>
                        </a:lnSpc>
                        <a:defRPr/>
                      </a:pPr>
                      <a:r>
                        <a:rPr lang="en-US" sz="2000" b="true">
                          <a:solidFill>
                            <a:srgbClr val="000000"/>
                          </a:solidFill>
                          <a:latin typeface="Open Sans Bold"/>
                          <a:ea typeface="Open Sans Bold"/>
                          <a:cs typeface="Open Sans Bold"/>
                          <a:sym typeface="Open Sans Bold"/>
                        </a:rPr>
                        <a:t>Nettoyage effectué</a:t>
                      </a:r>
                      <a:endParaRPr lang="en-US" sz="1100"/>
                    </a:p>
                  </a:txBody>
                  <a:tcPr marL="85725" marR="85725" marT="85725" marB="85725" anchor="ctr">
                    <a:lnL cmpd="sng" algn="ctr" cap="flat" w="57150">
                      <a:solidFill>
                        <a:srgbClr val="8A1111"/>
                      </a:solidFill>
                      <a:prstDash val="solid"/>
                      <a:round/>
                      <a:headEnd type="none" w="med" len="med"/>
                      <a:tailEnd type="none" w="med" len="med"/>
                    </a:lnL>
                    <a:lnR cmpd="sng" algn="ctr" cap="flat" w="57150">
                      <a:solidFill>
                        <a:srgbClr val="8A1111"/>
                      </a:solidFill>
                      <a:prstDash val="solid"/>
                      <a:round/>
                      <a:headEnd type="none" w="med" len="med"/>
                      <a:tailEnd type="none" w="med" len="med"/>
                    </a:lnR>
                    <a:lnT cmpd="sng" algn="ctr" cap="flat" w="57150">
                      <a:solidFill>
                        <a:srgbClr val="8A1111"/>
                      </a:solidFill>
                      <a:prstDash val="solid"/>
                      <a:round/>
                      <a:headEnd type="none" w="med" len="med"/>
                      <a:tailEnd type="none" w="med" len="med"/>
                    </a:lnT>
                    <a:lnB cmpd="sng" algn="ctr" cap="flat" w="57150">
                      <a:solidFill>
                        <a:srgbClr val="8A1111"/>
                      </a:solidFill>
                      <a:prstDash val="solid"/>
                      <a:round/>
                      <a:headEnd type="none" w="med" len="med"/>
                      <a:tailEnd type="none" w="med" len="med"/>
                    </a:lnB>
                    <a:solidFill>
                      <a:srgbClr val="8A1111"/>
                    </a:solidFill>
                  </a:tcPr>
                </a:tc>
              </a:tr>
              <a:tr h="7592634">
                <a:tc>
                  <a:txBody>
                    <a:bodyPr anchor="t" rtlCol="false"/>
                    <a:lstStyle/>
                    <a:p>
                      <a:pPr algn="l">
                        <a:lnSpc>
                          <a:spcPts val="2800"/>
                        </a:lnSpc>
                        <a:defRPr/>
                      </a:pPr>
                      <a:r>
                        <a:rPr lang="en-US" sz="2000">
                          <a:solidFill>
                            <a:srgbClr val="000000"/>
                          </a:solidFill>
                          <a:latin typeface="Arimo"/>
                          <a:ea typeface="Arimo"/>
                          <a:cs typeface="Arimo"/>
                          <a:sym typeface="Arimo"/>
                        </a:rPr>
                        <a:t>Cette </a:t>
                      </a:r>
                      <a:r>
                        <a:rPr lang="en-US" sz="2000">
                          <a:solidFill>
                            <a:srgbClr val="000000"/>
                          </a:solidFill>
                          <a:latin typeface="Arimo"/>
                          <a:ea typeface="Arimo"/>
                          <a:cs typeface="Arimo"/>
                          <a:sym typeface="Arimo"/>
                        </a:rPr>
                        <a:t>étude mobilise 5 sources de données hétérogènes couvrant la période 2015–2024, </a:t>
                      </a:r>
                      <a:r>
                        <a:rPr lang="en-US" sz="2000">
                          <a:solidFill>
                            <a:srgbClr val="000000"/>
                          </a:solidFill>
                          <a:latin typeface="Arimo"/>
                          <a:ea typeface="Arimo"/>
                          <a:cs typeface="Arimo"/>
                          <a:sym typeface="Arimo"/>
                        </a:rPr>
                        <a:t>structurées autour de trois dimensions complémentaires :</a:t>
                      </a:r>
                      <a:endParaRPr lang="en-US" sz="1100"/>
                    </a:p>
                    <a:p>
                      <a:pPr algn="l" marL="431801" indent="-215900" lvl="1">
                        <a:lnSpc>
                          <a:spcPts val="2800"/>
                        </a:lnSpc>
                        <a:buFont typeface="Arial"/>
                        <a:buChar char="•"/>
                      </a:pPr>
                      <a:r>
                        <a:rPr lang="en-US" sz="2000">
                          <a:solidFill>
                            <a:srgbClr val="000000"/>
                          </a:solidFill>
                          <a:latin typeface="Arimo"/>
                          <a:ea typeface="Arimo"/>
                          <a:cs typeface="Arimo"/>
                          <a:sym typeface="Arimo"/>
                        </a:rPr>
                        <a:t>Indicateur</a:t>
                      </a:r>
                      <a:r>
                        <a:rPr lang="en-US" sz="2000">
                          <a:solidFill>
                            <a:srgbClr val="000000"/>
                          </a:solidFill>
                          <a:latin typeface="Arimo"/>
                          <a:ea typeface="Arimo"/>
                          <a:cs typeface="Arimo"/>
                          <a:sym typeface="Arimo"/>
                        </a:rPr>
                        <a:t>s macroéconomiques (Banque Mondiale) : PIB total, PIB par habitant, taux d'inflation et population — soit 4 datasets de ~2 660 observations chacun, organisés en 4 colonnes : pays, code ISO3, année et valeur.</a:t>
                      </a:r>
                    </a:p>
                    <a:p>
                      <a:pPr algn="l" marL="431801" indent="-215900" lvl="1">
                        <a:lnSpc>
                          <a:spcPts val="2800"/>
                        </a:lnSpc>
                        <a:buFont typeface="Arial"/>
                        <a:buChar char="•"/>
                      </a:pPr>
                      <a:r>
                        <a:rPr lang="en-US" sz="2000">
                          <a:solidFill>
                            <a:srgbClr val="000000"/>
                          </a:solidFill>
                          <a:latin typeface="Arimo"/>
                          <a:ea typeface="Arimo"/>
                          <a:cs typeface="Arimo"/>
                          <a:sym typeface="Arimo"/>
                        </a:rPr>
                        <a:t>Données agricoles (FAO) : valeur brute de production et prix producteurs par produit et par pays, sur 3 périodes concaténées (2015–2018, 2019–2021, 2022–2024).</a:t>
                      </a:r>
                    </a:p>
                    <a:p>
                      <a:pPr algn="l" marL="431801" indent="-215900" lvl="1">
                        <a:lnSpc>
                          <a:spcPts val="2800"/>
                        </a:lnSpc>
                        <a:buFont typeface="Arial"/>
                        <a:buChar char="•"/>
                      </a:pPr>
                      <a:r>
                        <a:rPr lang="en-US" sz="2000">
                          <a:solidFill>
                            <a:srgbClr val="000000"/>
                          </a:solidFill>
                          <a:latin typeface="Arimo"/>
                          <a:ea typeface="Arimo"/>
                          <a:cs typeface="Arimo"/>
                          <a:sym typeface="Arimo"/>
                        </a:rPr>
                        <a:t>Données clim</a:t>
                      </a:r>
                      <a:r>
                        <a:rPr lang="en-US" sz="2000">
                          <a:solidFill>
                            <a:srgbClr val="000000"/>
                          </a:solidFill>
                          <a:latin typeface="Arimo"/>
                          <a:ea typeface="Arimo"/>
                          <a:cs typeface="Arimo"/>
                          <a:sym typeface="Arimo"/>
                        </a:rPr>
                        <a:t>atiques : températures moyennes, minimales, maximales et précipitations annuelles pour 247 pays, issues de deux fichiers météo fusionnés.</a:t>
                      </a:r>
                    </a:p>
                    <a:p>
                      <a:pPr algn="l">
                        <a:lnSpc>
                          <a:spcPts val="2800"/>
                        </a:lnSpc>
                      </a:pPr>
                    </a:p>
                  </a:txBody>
                  <a:tcPr marL="85725" marR="85725" marT="85725" marB="85725" anchor="ctr">
                    <a:lnL cmpd="sng" algn="ctr" cap="flat" w="57150">
                      <a:solidFill>
                        <a:srgbClr val="0097B2"/>
                      </a:solidFill>
                      <a:prstDash val="solid"/>
                      <a:round/>
                      <a:headEnd type="none" w="med" len="med"/>
                      <a:tailEnd type="none" w="med" len="med"/>
                    </a:lnL>
                    <a:lnR cmpd="sng" algn="ctr" cap="flat" w="57150">
                      <a:solidFill>
                        <a:srgbClr val="0097B2"/>
                      </a:solidFill>
                      <a:prstDash val="solid"/>
                      <a:round/>
                      <a:headEnd type="none" w="med" len="med"/>
                      <a:tailEnd type="none" w="med" len="med"/>
                    </a:lnR>
                    <a:lnT cmpd="sng" algn="ctr" cap="flat" w="57150">
                      <a:solidFill>
                        <a:srgbClr val="0097B2"/>
                      </a:solidFill>
                      <a:prstDash val="solid"/>
                      <a:round/>
                      <a:headEnd type="none" w="med" len="med"/>
                      <a:tailEnd type="none" w="med" len="med"/>
                    </a:lnT>
                    <a:lnB cmpd="sng" algn="ctr" cap="flat" w="57150">
                      <a:solidFill>
                        <a:srgbClr val="0097B2"/>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Arimo"/>
                          <a:ea typeface="Arimo"/>
                          <a:cs typeface="Arimo"/>
                          <a:sym typeface="Arimo"/>
                        </a:rPr>
                        <a:t>Les données pr</a:t>
                      </a:r>
                      <a:r>
                        <a:rPr lang="en-US" sz="2000">
                          <a:solidFill>
                            <a:srgbClr val="000000"/>
                          </a:solidFill>
                          <a:latin typeface="Arimo"/>
                          <a:ea typeface="Arimo"/>
                          <a:cs typeface="Arimo"/>
                          <a:sym typeface="Arimo"/>
                        </a:rPr>
                        <a:t>ésentaient plusieurs problèmes identifiés :</a:t>
                      </a:r>
                      <a:endParaRPr lang="en-US" sz="1100"/>
                    </a:p>
                    <a:p>
                      <a:pPr algn="l" marL="431801" indent="-215900" lvl="1">
                        <a:lnSpc>
                          <a:spcPts val="2800"/>
                        </a:lnSpc>
                        <a:buFont typeface="Arial"/>
                        <a:buChar char="•"/>
                      </a:pPr>
                      <a:r>
                        <a:rPr lang="en-US" sz="2000">
                          <a:solidFill>
                            <a:srgbClr val="000000"/>
                          </a:solidFill>
                          <a:latin typeface="Arimo"/>
                          <a:ea typeface="Arimo"/>
                          <a:cs typeface="Arimo"/>
                          <a:sym typeface="Arimo"/>
                        </a:rPr>
                        <a:t>Valeurs </a:t>
                      </a:r>
                      <a:r>
                        <a:rPr lang="en-US" sz="2000">
                          <a:solidFill>
                            <a:srgbClr val="000000"/>
                          </a:solidFill>
                          <a:latin typeface="Arimo"/>
                          <a:ea typeface="Arimo"/>
                          <a:cs typeface="Arimo"/>
                          <a:sym typeface="Arimo"/>
                        </a:rPr>
                        <a:t>manquantes : la colonne countryiso3code avait 50 nulls dans tous les datasets macro. La colonne value avait entre 100 (PIB, PIB/capita) et 371 (inflation) valeurs manquantes. La météo avait quelques nulls sur tmax et tmin (10–12).</a:t>
                      </a:r>
                    </a:p>
                    <a:p>
                      <a:pPr algn="l" marL="431801" indent="-215900" lvl="1">
                        <a:lnSpc>
                          <a:spcPts val="2800"/>
                        </a:lnSpc>
                        <a:buFont typeface="Arial"/>
                        <a:buChar char="•"/>
                      </a:pPr>
                      <a:r>
                        <a:rPr lang="en-US" sz="2000">
                          <a:solidFill>
                            <a:srgbClr val="000000"/>
                          </a:solidFill>
                          <a:latin typeface="Arimo"/>
                          <a:ea typeface="Arimo"/>
                          <a:cs typeface="Arimo"/>
                          <a:sym typeface="Arimo"/>
                        </a:rPr>
                        <a:t>Format non stan</a:t>
                      </a:r>
                      <a:r>
                        <a:rPr lang="en-US" sz="2000">
                          <a:solidFill>
                            <a:srgbClr val="000000"/>
                          </a:solidFill>
                          <a:latin typeface="Arimo"/>
                          <a:ea typeface="Arimo"/>
                          <a:cs typeface="Arimo"/>
                          <a:sym typeface="Arimo"/>
                        </a:rPr>
                        <a:t>dard : la colonne country était stockée sous forme de dictionnaire Python (ex. {"value": "France"}), nécessitant une conversion.</a:t>
                      </a:r>
                    </a:p>
                    <a:p>
                      <a:pPr algn="l" marL="431801" indent="-215900" lvl="1">
                        <a:lnSpc>
                          <a:spcPts val="2800"/>
                        </a:lnSpc>
                        <a:buFont typeface="Arial"/>
                        <a:buChar char="•"/>
                      </a:pPr>
                      <a:r>
                        <a:rPr lang="en-US" sz="2000">
                          <a:solidFill>
                            <a:srgbClr val="000000"/>
                          </a:solidFill>
                          <a:latin typeface="Arimo"/>
                          <a:ea typeface="Arimo"/>
                          <a:cs typeface="Arimo"/>
                          <a:sym typeface="Arimo"/>
                        </a:rPr>
                        <a:t>Aucun </a:t>
                      </a:r>
                      <a:r>
                        <a:rPr lang="en-US" sz="2000">
                          <a:solidFill>
                            <a:srgbClr val="000000"/>
                          </a:solidFill>
                          <a:latin typeface="Arimo"/>
                          <a:ea typeface="Arimo"/>
                          <a:cs typeface="Arimo"/>
                          <a:sym typeface="Arimo"/>
                        </a:rPr>
                        <a:t>doublon détecté dans l'ensemble des fichiers.</a:t>
                      </a:r>
                    </a:p>
                    <a:p>
                      <a:pPr algn="l" marL="431801" indent="-215900" lvl="1">
                        <a:lnSpc>
                          <a:spcPts val="2800"/>
                        </a:lnSpc>
                        <a:buFont typeface="Arial"/>
                        <a:buChar char="•"/>
                      </a:pPr>
                      <a:r>
                        <a:rPr lang="en-US" sz="2000">
                          <a:solidFill>
                            <a:srgbClr val="000000"/>
                          </a:solidFill>
                          <a:latin typeface="Arimo"/>
                          <a:ea typeface="Arimo"/>
                          <a:cs typeface="Arimo"/>
                          <a:sym typeface="Arimo"/>
                        </a:rPr>
                        <a:t>Données agrégées : présence de codes régionaux non-pays (ex. WLD, EUU, AFR…) mélangés avec les pays.</a:t>
                      </a:r>
                    </a:p>
                  </a:txBody>
                  <a:tcPr marL="85725" marR="85725" marT="85725" marB="85725" anchor="ctr">
                    <a:lnL cmpd="sng" algn="ctr" cap="flat" w="57150">
                      <a:solidFill>
                        <a:srgbClr val="F6BE35"/>
                      </a:solidFill>
                      <a:prstDash val="solid"/>
                      <a:round/>
                      <a:headEnd type="none" w="med" len="med"/>
                      <a:tailEnd type="none" w="med" len="med"/>
                    </a:lnL>
                    <a:lnR cmpd="sng" algn="ctr" cap="flat" w="57150">
                      <a:solidFill>
                        <a:srgbClr val="F6BE35"/>
                      </a:solidFill>
                      <a:prstDash val="solid"/>
                      <a:round/>
                      <a:headEnd type="none" w="med" len="med"/>
                      <a:tailEnd type="none" w="med" len="med"/>
                    </a:lnR>
                    <a:lnT cmpd="sng" algn="ctr" cap="flat" w="57150">
                      <a:solidFill>
                        <a:srgbClr val="F6BE35"/>
                      </a:solidFill>
                      <a:prstDash val="solid"/>
                      <a:round/>
                      <a:headEnd type="none" w="med" len="med"/>
                      <a:tailEnd type="none" w="med" len="med"/>
                    </a:lnT>
                    <a:lnB cmpd="sng" algn="ctr" cap="flat" w="57150">
                      <a:solidFill>
                        <a:srgbClr val="F6BE35"/>
                      </a:solidFill>
                      <a:prstDash val="solid"/>
                      <a:round/>
                      <a:headEnd type="none" w="med" len="med"/>
                      <a:tailEnd type="none" w="med" len="med"/>
                    </a:lnB>
                  </a:tcPr>
                </a:tc>
                <a:tc>
                  <a:txBody>
                    <a:bodyPr anchor="t" rtlCol="false"/>
                    <a:lstStyle/>
                    <a:p>
                      <a:pPr algn="l">
                        <a:lnSpc>
                          <a:spcPts val="2380"/>
                        </a:lnSpc>
                        <a:defRPr/>
                      </a:pPr>
                      <a:r>
                        <a:rPr lang="en-US" sz="1700">
                          <a:solidFill>
                            <a:srgbClr val="000000"/>
                          </a:solidFill>
                          <a:latin typeface="Arimo"/>
                          <a:ea typeface="Arimo"/>
                          <a:cs typeface="Arimo"/>
                          <a:sym typeface="Arimo"/>
                        </a:rPr>
                        <a:t>Le nett</a:t>
                      </a:r>
                      <a:r>
                        <a:rPr lang="en-US" sz="1700">
                          <a:solidFill>
                            <a:srgbClr val="000000"/>
                          </a:solidFill>
                          <a:latin typeface="Arimo"/>
                          <a:ea typeface="Arimo"/>
                          <a:cs typeface="Arimo"/>
                          <a:sym typeface="Arimo"/>
                        </a:rPr>
                        <a:t>oyage a suivi les étapes suivantes pour chaque dataset :</a:t>
                      </a:r>
                      <a:endParaRPr lang="en-US" sz="1100"/>
                    </a:p>
                    <a:p>
                      <a:pPr algn="l" marL="367031" indent="-183515" lvl="1">
                        <a:lnSpc>
                          <a:spcPts val="2380"/>
                        </a:lnSpc>
                        <a:buAutoNum type="arabicPeriod" startAt="1"/>
                      </a:pPr>
                      <a:r>
                        <a:rPr lang="en-US" sz="1700">
                          <a:solidFill>
                            <a:srgbClr val="000000"/>
                          </a:solidFill>
                          <a:latin typeface="Arimo"/>
                          <a:ea typeface="Arimo"/>
                          <a:cs typeface="Arimo"/>
                          <a:sym typeface="Arimo"/>
                        </a:rPr>
                        <a:t>Extraction des noms de pays depuis le format dictionnaire via ast.literal_eval.</a:t>
                      </a:r>
                    </a:p>
                    <a:p>
                      <a:pPr algn="l" marL="367031" indent="-183515" lvl="1">
                        <a:lnSpc>
                          <a:spcPts val="2380"/>
                        </a:lnSpc>
                        <a:buAutoNum type="arabicPeriod" startAt="1"/>
                      </a:pPr>
                      <a:r>
                        <a:rPr lang="en-US" sz="1700">
                          <a:solidFill>
                            <a:srgbClr val="000000"/>
                          </a:solidFill>
                          <a:latin typeface="Arimo"/>
                          <a:ea typeface="Arimo"/>
                          <a:cs typeface="Arimo"/>
                          <a:sym typeface="Arimo"/>
                        </a:rPr>
                        <a:t>Complétion</a:t>
                      </a:r>
                      <a:r>
                        <a:rPr lang="en-US" sz="1700">
                          <a:solidFill>
                            <a:srgbClr val="000000"/>
                          </a:solidFill>
                          <a:latin typeface="Arimo"/>
                          <a:ea typeface="Arimo"/>
                          <a:cs typeface="Arimo"/>
                          <a:sym typeface="Arimo"/>
                        </a:rPr>
                        <a:t> des codes ISO3 manquants par merge avec un fichier de référence countries_iso3.csv.</a:t>
                      </a:r>
                    </a:p>
                    <a:p>
                      <a:pPr algn="l" marL="367031" indent="-183515" lvl="1">
                        <a:lnSpc>
                          <a:spcPts val="2380"/>
                        </a:lnSpc>
                        <a:buAutoNum type="arabicPeriod" startAt="1"/>
                      </a:pPr>
                      <a:r>
                        <a:rPr lang="en-US" sz="1700">
                          <a:solidFill>
                            <a:srgbClr val="000000"/>
                          </a:solidFill>
                          <a:latin typeface="Arimo"/>
                          <a:ea typeface="Arimo"/>
                          <a:cs typeface="Arimo"/>
                          <a:sym typeface="Arimo"/>
                        </a:rPr>
                        <a:t>Suppression des régions et agrégats (41 codes régionaux) pour ne garder que les 199 pays individuels.</a:t>
                      </a:r>
                    </a:p>
                    <a:p>
                      <a:pPr algn="l" marL="367031" indent="-183515" lvl="1">
                        <a:lnSpc>
                          <a:spcPts val="2380"/>
                        </a:lnSpc>
                        <a:buAutoNum type="arabicPeriod" startAt="1"/>
                      </a:pPr>
                      <a:r>
                        <a:rPr lang="en-US" sz="1700">
                          <a:solidFill>
                            <a:srgbClr val="000000"/>
                          </a:solidFill>
                          <a:latin typeface="Arimo"/>
                          <a:ea typeface="Arimo"/>
                          <a:cs typeface="Arimo"/>
                          <a:sym typeface="Arimo"/>
                        </a:rPr>
                        <a:t>Imputation des valeurs manquantes par la médiane par pays (groupby + fillna(median)). Pour l'inflation, les</a:t>
                      </a:r>
                      <a:r>
                        <a:rPr lang="en-US" sz="1700">
                          <a:solidFill>
                            <a:srgbClr val="000000"/>
                          </a:solidFill>
                          <a:latin typeface="Arimo"/>
                          <a:ea typeface="Arimo"/>
                          <a:cs typeface="Arimo"/>
                          <a:sym typeface="Arimo"/>
                        </a:rPr>
                        <a:t> pays sans aucune donnée (28 pays comme Cuba, Érythrée, Corée du Nord…) ont été supprimés.</a:t>
                      </a:r>
                    </a:p>
                    <a:p>
                      <a:pPr algn="l" marL="367031" indent="-183515" lvl="1">
                        <a:lnSpc>
                          <a:spcPts val="2380"/>
                        </a:lnSpc>
                        <a:buAutoNum type="arabicPeriod" startAt="1"/>
                      </a:pPr>
                      <a:r>
                        <a:rPr lang="en-US" sz="1700">
                          <a:solidFill>
                            <a:srgbClr val="000000"/>
                          </a:solidFill>
                          <a:latin typeface="Arimo"/>
                          <a:ea typeface="Arimo"/>
                          <a:cs typeface="Arimo"/>
                          <a:sym typeface="Arimo"/>
                        </a:rPr>
                        <a:t>Données agricoles : fusion de 3 fichie</a:t>
                      </a:r>
                      <a:r>
                        <a:rPr lang="en-US" sz="1700">
                          <a:solidFill>
                            <a:srgbClr val="000000"/>
                          </a:solidFill>
                          <a:latin typeface="Arimo"/>
                          <a:ea typeface="Arimo"/>
                          <a:cs typeface="Arimo"/>
                          <a:sym typeface="Arimo"/>
                        </a:rPr>
                        <a:t>rs par période, standardisation des noms de pays (ex. "United States of America" → "United States"), sélection des</a:t>
                      </a:r>
                      <a:r>
                        <a:rPr lang="en-US" sz="1700">
                          <a:solidFill>
                            <a:srgbClr val="000000"/>
                          </a:solidFill>
                          <a:latin typeface="Arimo"/>
                          <a:ea typeface="Arimo"/>
                          <a:cs typeface="Arimo"/>
                          <a:sym typeface="Arimo"/>
                        </a:rPr>
                        <a:t> colonnes utiles.</a:t>
                      </a:r>
                    </a:p>
                    <a:p>
                      <a:pPr algn="l" marL="367031" indent="-183515" lvl="1">
                        <a:lnSpc>
                          <a:spcPts val="2380"/>
                        </a:lnSpc>
                        <a:buAutoNum type="arabicPeriod" startAt="1"/>
                      </a:pPr>
                      <a:r>
                        <a:rPr lang="en-US" sz="1700">
                          <a:solidFill>
                            <a:srgbClr val="000000"/>
                          </a:solidFill>
                          <a:latin typeface="Arimo"/>
                          <a:ea typeface="Arimo"/>
                          <a:cs typeface="Arimo"/>
                          <a:sym typeface="Arimo"/>
                        </a:rPr>
                        <a:t>Météo : agrégation mensuelle → annuelle par moyenne/somme, puis imputation des nulls restants par</a:t>
                      </a:r>
                      <a:r>
                        <a:rPr lang="en-US" sz="1700">
                          <a:solidFill>
                            <a:srgbClr val="000000"/>
                          </a:solidFill>
                          <a:latin typeface="Arimo"/>
                          <a:ea typeface="Arimo"/>
                          <a:cs typeface="Arimo"/>
                          <a:sym typeface="Arimo"/>
                        </a:rPr>
                        <a:t> médiane pays.</a:t>
                      </a:r>
                    </a:p>
                    <a:p>
                      <a:pPr algn="l" marL="367031" indent="-183515" lvl="1">
                        <a:lnSpc>
                          <a:spcPts val="2380"/>
                        </a:lnSpc>
                        <a:buAutoNum type="arabicPeriod" startAt="1"/>
                      </a:pPr>
                      <a:r>
                        <a:rPr lang="en-US" sz="1700">
                          <a:solidFill>
                            <a:srgbClr val="000000"/>
                          </a:solidFill>
                          <a:latin typeface="Arimo"/>
                          <a:ea typeface="Arimo"/>
                          <a:cs typeface="Arimo"/>
                          <a:sym typeface="Arimo"/>
                        </a:rPr>
                        <a:t>Fusion finale des 4 indicateurs macro en un seul fichier economique_data.csv — 1 990 lignes × 6 colonnes, propre et sans aucune valeur manquante.</a:t>
                      </a:r>
                    </a:p>
                    <a:p>
                      <a:pPr algn="l">
                        <a:lnSpc>
                          <a:spcPts val="2380"/>
                        </a:lnSpc>
                      </a:pPr>
                    </a:p>
                  </a:txBody>
                  <a:tcPr marL="85725" marR="85725" marT="85725" marB="85725" anchor="ctr">
                    <a:lnL cmpd="sng" algn="ctr" cap="flat" w="57150">
                      <a:solidFill>
                        <a:srgbClr val="8A1111"/>
                      </a:solidFill>
                      <a:prstDash val="solid"/>
                      <a:round/>
                      <a:headEnd type="none" w="med" len="med"/>
                      <a:tailEnd type="none" w="med" len="med"/>
                    </a:lnL>
                    <a:lnR cmpd="sng" algn="ctr" cap="flat" w="57150">
                      <a:solidFill>
                        <a:srgbClr val="8A1111"/>
                      </a:solidFill>
                      <a:prstDash val="solid"/>
                      <a:round/>
                      <a:headEnd type="none" w="med" len="med"/>
                      <a:tailEnd type="none" w="med" len="med"/>
                    </a:lnR>
                    <a:lnT cmpd="sng" algn="ctr" cap="flat" w="57150">
                      <a:solidFill>
                        <a:srgbClr val="8A1111"/>
                      </a:solidFill>
                      <a:prstDash val="solid"/>
                      <a:round/>
                      <a:headEnd type="none" w="med" len="med"/>
                      <a:tailEnd type="none" w="med" len="med"/>
                    </a:lnT>
                    <a:lnB cmpd="sng" algn="ctr" cap="flat" w="57150">
                      <a:solidFill>
                        <a:srgbClr val="8A111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76308" y="1028700"/>
            <a:ext cx="16182992" cy="7013289"/>
          </a:xfrm>
          <a:custGeom>
            <a:avLst/>
            <a:gdLst/>
            <a:ahLst/>
            <a:cxnLst/>
            <a:rect r="r" b="b" t="t" l="l"/>
            <a:pathLst>
              <a:path h="7013289" w="16182992">
                <a:moveTo>
                  <a:pt x="0" y="0"/>
                </a:moveTo>
                <a:lnTo>
                  <a:pt x="16182992" y="0"/>
                </a:lnTo>
                <a:lnTo>
                  <a:pt x="16182992" y="7013289"/>
                </a:lnTo>
                <a:lnTo>
                  <a:pt x="0" y="7013289"/>
                </a:lnTo>
                <a:lnTo>
                  <a:pt x="0" y="0"/>
                </a:lnTo>
                <a:close/>
              </a:path>
            </a:pathLst>
          </a:custGeom>
          <a:blipFill>
            <a:blip r:embed="rId2"/>
            <a:stretch>
              <a:fillRect l="-15165" t="-1487" r="0" b="-1487"/>
            </a:stretch>
          </a:blipFill>
        </p:spPr>
      </p:sp>
      <p:sp>
        <p:nvSpPr>
          <p:cNvPr name="TextBox 3" id="3"/>
          <p:cNvSpPr txBox="true"/>
          <p:nvPr/>
        </p:nvSpPr>
        <p:spPr>
          <a:xfrm rot="0">
            <a:off x="4722225" y="197258"/>
            <a:ext cx="8427339"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Glacial Indifference Bold"/>
                <a:ea typeface="Glacial Indifference Bold"/>
                <a:cs typeface="Glacial Indifference Bold"/>
                <a:sym typeface="Glacial Indifference Bold"/>
              </a:rPr>
              <a:t>MODÉLISATION</a:t>
            </a:r>
            <a:r>
              <a:rPr lang="en-US" b="true" sz="3000">
                <a:solidFill>
                  <a:srgbClr val="000000"/>
                </a:solidFill>
                <a:latin typeface="Glacial Indifference Bold"/>
                <a:ea typeface="Glacial Indifference Bold"/>
                <a:cs typeface="Glacial Indifference Bold"/>
                <a:sym typeface="Glacial Indifference Bold"/>
              </a:rPr>
              <a:t>S</a:t>
            </a:r>
          </a:p>
        </p:txBody>
      </p:sp>
      <p:grpSp>
        <p:nvGrpSpPr>
          <p:cNvPr name="Group 4" id="4"/>
          <p:cNvGrpSpPr/>
          <p:nvPr/>
        </p:nvGrpSpPr>
        <p:grpSpPr>
          <a:xfrm rot="0">
            <a:off x="1076308" y="8346789"/>
            <a:ext cx="16182992" cy="1536211"/>
            <a:chOff x="0" y="0"/>
            <a:chExt cx="3674190" cy="348782"/>
          </a:xfrm>
        </p:grpSpPr>
        <p:sp>
          <p:nvSpPr>
            <p:cNvPr name="Freeform 5" id="5"/>
            <p:cNvSpPr/>
            <p:nvPr/>
          </p:nvSpPr>
          <p:spPr>
            <a:xfrm flipH="false" flipV="false" rot="0">
              <a:off x="0" y="0"/>
              <a:ext cx="3674190" cy="348782"/>
            </a:xfrm>
            <a:custGeom>
              <a:avLst/>
              <a:gdLst/>
              <a:ahLst/>
              <a:cxnLst/>
              <a:rect r="r" b="b" t="t" l="l"/>
              <a:pathLst>
                <a:path h="348782" w="3674190">
                  <a:moveTo>
                    <a:pt x="9344" y="0"/>
                  </a:moveTo>
                  <a:lnTo>
                    <a:pt x="3664847" y="0"/>
                  </a:lnTo>
                  <a:cubicBezTo>
                    <a:pt x="3667325" y="0"/>
                    <a:pt x="3669702" y="984"/>
                    <a:pt x="3671454" y="2737"/>
                  </a:cubicBezTo>
                  <a:cubicBezTo>
                    <a:pt x="3673206" y="4489"/>
                    <a:pt x="3674190" y="6866"/>
                    <a:pt x="3674190" y="9344"/>
                  </a:cubicBezTo>
                  <a:lnTo>
                    <a:pt x="3674190" y="339438"/>
                  </a:lnTo>
                  <a:cubicBezTo>
                    <a:pt x="3674190" y="341916"/>
                    <a:pt x="3673206" y="344293"/>
                    <a:pt x="3671454" y="346045"/>
                  </a:cubicBezTo>
                  <a:cubicBezTo>
                    <a:pt x="3669702" y="347797"/>
                    <a:pt x="3667325" y="348782"/>
                    <a:pt x="3664847" y="348782"/>
                  </a:cubicBezTo>
                  <a:lnTo>
                    <a:pt x="9344" y="348782"/>
                  </a:lnTo>
                  <a:cubicBezTo>
                    <a:pt x="6866" y="348782"/>
                    <a:pt x="4489" y="347797"/>
                    <a:pt x="2737" y="346045"/>
                  </a:cubicBezTo>
                  <a:cubicBezTo>
                    <a:pt x="984" y="344293"/>
                    <a:pt x="0" y="341916"/>
                    <a:pt x="0" y="339438"/>
                  </a:cubicBezTo>
                  <a:lnTo>
                    <a:pt x="0" y="9344"/>
                  </a:lnTo>
                  <a:cubicBezTo>
                    <a:pt x="0" y="6866"/>
                    <a:pt x="984" y="4489"/>
                    <a:pt x="2737" y="2737"/>
                  </a:cubicBezTo>
                  <a:cubicBezTo>
                    <a:pt x="4489" y="984"/>
                    <a:pt x="6866" y="0"/>
                    <a:pt x="9344" y="0"/>
                  </a:cubicBezTo>
                  <a:close/>
                </a:path>
              </a:pathLst>
            </a:custGeom>
            <a:solidFill>
              <a:srgbClr val="333333"/>
            </a:solidFill>
          </p:spPr>
        </p:sp>
        <p:sp>
          <p:nvSpPr>
            <p:cNvPr name="TextBox 6" id="6"/>
            <p:cNvSpPr txBox="true"/>
            <p:nvPr/>
          </p:nvSpPr>
          <p:spPr>
            <a:xfrm>
              <a:off x="0" y="-38100"/>
              <a:ext cx="3674190" cy="386882"/>
            </a:xfrm>
            <a:prstGeom prst="rect">
              <a:avLst/>
            </a:prstGeom>
          </p:spPr>
          <p:txBody>
            <a:bodyPr anchor="ctr" rtlCol="false" tIns="50800" lIns="50800" bIns="50800" rIns="50800"/>
            <a:lstStyle/>
            <a:p>
              <a:pPr algn="l">
                <a:lnSpc>
                  <a:spcPts val="2659"/>
                </a:lnSpc>
              </a:pPr>
              <a:r>
                <a:rPr lang="en-US" sz="1899" b="true">
                  <a:solidFill>
                    <a:srgbClr val="FFFFFF"/>
                  </a:solidFill>
                  <a:latin typeface="Open Sans Bold"/>
                  <a:ea typeface="Open Sans Bold"/>
                  <a:cs typeface="Open Sans Bold"/>
                  <a:sym typeface="Open Sans Bold"/>
                </a:rPr>
                <a:t>Mesures DAX &amp; KPIs</a:t>
              </a:r>
            </a:p>
            <a:p>
              <a:pPr algn="l" marL="410209" indent="-205105" lvl="1">
                <a:lnSpc>
                  <a:spcPts val="2659"/>
                </a:lnSpc>
                <a:buFont typeface="Arial"/>
                <a:buChar char="•"/>
              </a:pPr>
              <a:r>
                <a:rPr lang="en-US" sz="1899">
                  <a:solidFill>
                    <a:srgbClr val="FFFFFF"/>
                  </a:solidFill>
                  <a:latin typeface="Open Sans"/>
                  <a:ea typeface="Open Sans"/>
                  <a:cs typeface="Open Sans"/>
                  <a:sym typeface="Open Sans"/>
                </a:rPr>
                <a:t>création de 4 mesure DAX</a:t>
              </a:r>
            </a:p>
            <a:p>
              <a:pPr algn="l" marL="410209" indent="-205105" lvl="1">
                <a:lnSpc>
                  <a:spcPts val="2659"/>
                </a:lnSpc>
                <a:buFont typeface="Arial"/>
                <a:buChar char="•"/>
              </a:pPr>
              <a:r>
                <a:rPr lang="en-US" sz="1899">
                  <a:solidFill>
                    <a:srgbClr val="FFFFFF"/>
                  </a:solidFill>
                  <a:latin typeface="Open Sans"/>
                  <a:ea typeface="Open Sans"/>
                  <a:cs typeface="Open Sans"/>
                  <a:sym typeface="Open Sans"/>
                </a:rPr>
                <a:t>création des KPIs économiques ,climatique ,agricole   </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30303"/>
        </a:solidFill>
      </p:bgPr>
    </p:bg>
    <p:spTree>
      <p:nvGrpSpPr>
        <p:cNvPr id="1" name=""/>
        <p:cNvGrpSpPr/>
        <p:nvPr/>
      </p:nvGrpSpPr>
      <p:grpSpPr>
        <a:xfrm>
          <a:off x="0" y="0"/>
          <a:ext cx="0" cy="0"/>
          <a:chOff x="0" y="0"/>
          <a:chExt cx="0" cy="0"/>
        </a:xfrm>
      </p:grpSpPr>
      <p:sp>
        <p:nvSpPr>
          <p:cNvPr name="Freeform 2" id="2"/>
          <p:cNvSpPr/>
          <p:nvPr/>
        </p:nvSpPr>
        <p:spPr>
          <a:xfrm flipH="false" flipV="false" rot="0">
            <a:off x="851718" y="853869"/>
            <a:ext cx="16862830" cy="9299332"/>
          </a:xfrm>
          <a:custGeom>
            <a:avLst/>
            <a:gdLst/>
            <a:ahLst/>
            <a:cxnLst/>
            <a:rect r="r" b="b" t="t" l="l"/>
            <a:pathLst>
              <a:path h="9299332" w="16862830">
                <a:moveTo>
                  <a:pt x="0" y="0"/>
                </a:moveTo>
                <a:lnTo>
                  <a:pt x="16862831" y="0"/>
                </a:lnTo>
                <a:lnTo>
                  <a:pt x="16862831" y="9299333"/>
                </a:lnTo>
                <a:lnTo>
                  <a:pt x="0" y="9299333"/>
                </a:lnTo>
                <a:lnTo>
                  <a:pt x="0" y="0"/>
                </a:lnTo>
                <a:close/>
              </a:path>
            </a:pathLst>
          </a:custGeom>
          <a:blipFill>
            <a:blip r:embed="rId2"/>
            <a:stretch>
              <a:fillRect l="0" t="-1109" r="-235" b="-222"/>
            </a:stretch>
          </a:blipFill>
        </p:spPr>
      </p:sp>
      <p:sp>
        <p:nvSpPr>
          <p:cNvPr name="TextBox 3" id="3"/>
          <p:cNvSpPr txBox="true"/>
          <p:nvPr/>
        </p:nvSpPr>
        <p:spPr>
          <a:xfrm rot="0">
            <a:off x="7872649" y="130890"/>
            <a:ext cx="2542703"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FFFFFF"/>
                </a:solidFill>
                <a:latin typeface="Glacial Indifference Bold"/>
                <a:ea typeface="Glacial Indifference Bold"/>
                <a:cs typeface="Glacial Indifference Bold"/>
                <a:sym typeface="Glacial Indifference Bold"/>
              </a:rPr>
              <a:t>DASHBOARDS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30303"/>
        </a:solidFill>
      </p:bgPr>
    </p:bg>
    <p:spTree>
      <p:nvGrpSpPr>
        <p:cNvPr id="1" name=""/>
        <p:cNvGrpSpPr/>
        <p:nvPr/>
      </p:nvGrpSpPr>
      <p:grpSpPr>
        <a:xfrm>
          <a:off x="0" y="0"/>
          <a:ext cx="0" cy="0"/>
          <a:chOff x="0" y="0"/>
          <a:chExt cx="0" cy="0"/>
        </a:xfrm>
      </p:grpSpPr>
      <p:sp>
        <p:nvSpPr>
          <p:cNvPr name="Freeform 2" id="2"/>
          <p:cNvSpPr/>
          <p:nvPr/>
        </p:nvSpPr>
        <p:spPr>
          <a:xfrm flipH="false" flipV="false" rot="0">
            <a:off x="895943" y="839401"/>
            <a:ext cx="16496114" cy="9223176"/>
          </a:xfrm>
          <a:custGeom>
            <a:avLst/>
            <a:gdLst/>
            <a:ahLst/>
            <a:cxnLst/>
            <a:rect r="r" b="b" t="t" l="l"/>
            <a:pathLst>
              <a:path h="9223176" w="16496114">
                <a:moveTo>
                  <a:pt x="0" y="0"/>
                </a:moveTo>
                <a:lnTo>
                  <a:pt x="16496114" y="0"/>
                </a:lnTo>
                <a:lnTo>
                  <a:pt x="16496114" y="9223177"/>
                </a:lnTo>
                <a:lnTo>
                  <a:pt x="0" y="9223177"/>
                </a:lnTo>
                <a:lnTo>
                  <a:pt x="0" y="0"/>
                </a:lnTo>
                <a:close/>
              </a:path>
            </a:pathLst>
          </a:custGeom>
          <a:blipFill>
            <a:blip r:embed="rId2"/>
            <a:stretch>
              <a:fillRect l="0" t="-750" r="-262" b="-343"/>
            </a:stretch>
          </a:blipFill>
        </p:spPr>
      </p:sp>
      <p:sp>
        <p:nvSpPr>
          <p:cNvPr name="TextBox 3" id="3"/>
          <p:cNvSpPr txBox="true"/>
          <p:nvPr/>
        </p:nvSpPr>
        <p:spPr>
          <a:xfrm rot="0">
            <a:off x="7872649" y="88184"/>
            <a:ext cx="2542703"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FFFFFF"/>
                </a:solidFill>
                <a:latin typeface="Glacial Indifference Bold"/>
                <a:ea typeface="Glacial Indifference Bold"/>
                <a:cs typeface="Glacial Indifference Bold"/>
                <a:sym typeface="Glacial Indifference Bold"/>
              </a:rPr>
              <a:t>DASHBOARDS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30303"/>
        </a:solidFill>
      </p:bgPr>
    </p:bg>
    <p:spTree>
      <p:nvGrpSpPr>
        <p:cNvPr id="1" name=""/>
        <p:cNvGrpSpPr/>
        <p:nvPr/>
      </p:nvGrpSpPr>
      <p:grpSpPr>
        <a:xfrm>
          <a:off x="0" y="0"/>
          <a:ext cx="0" cy="0"/>
          <a:chOff x="0" y="0"/>
          <a:chExt cx="0" cy="0"/>
        </a:xfrm>
      </p:grpSpPr>
      <p:sp>
        <p:nvSpPr>
          <p:cNvPr name="Freeform 2" id="2"/>
          <p:cNvSpPr/>
          <p:nvPr/>
        </p:nvSpPr>
        <p:spPr>
          <a:xfrm flipH="false" flipV="false" rot="0">
            <a:off x="807473" y="1028700"/>
            <a:ext cx="16673054" cy="9284652"/>
          </a:xfrm>
          <a:custGeom>
            <a:avLst/>
            <a:gdLst/>
            <a:ahLst/>
            <a:cxnLst/>
            <a:rect r="r" b="b" t="t" l="l"/>
            <a:pathLst>
              <a:path h="9284652" w="16673054">
                <a:moveTo>
                  <a:pt x="0" y="0"/>
                </a:moveTo>
                <a:lnTo>
                  <a:pt x="16673054" y="0"/>
                </a:lnTo>
                <a:lnTo>
                  <a:pt x="16673054" y="9284652"/>
                </a:lnTo>
                <a:lnTo>
                  <a:pt x="0" y="9284652"/>
                </a:lnTo>
                <a:lnTo>
                  <a:pt x="0" y="0"/>
                </a:lnTo>
                <a:close/>
              </a:path>
            </a:pathLst>
          </a:custGeom>
          <a:blipFill>
            <a:blip r:embed="rId2"/>
            <a:stretch>
              <a:fillRect l="-756" t="0" r="-756" b="-2312"/>
            </a:stretch>
          </a:blipFill>
        </p:spPr>
      </p:sp>
      <p:sp>
        <p:nvSpPr>
          <p:cNvPr name="TextBox 3" id="3"/>
          <p:cNvSpPr txBox="true"/>
          <p:nvPr/>
        </p:nvSpPr>
        <p:spPr>
          <a:xfrm rot="0">
            <a:off x="7870686" y="268828"/>
            <a:ext cx="2546628"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FFFFFF"/>
                </a:solidFill>
                <a:latin typeface="Glacial Indifference Bold"/>
                <a:ea typeface="Glacial Indifference Bold"/>
                <a:cs typeface="Glacial Indifference Bold"/>
                <a:sym typeface="Glacial Indifference Bold"/>
              </a:rPr>
              <a:t>DASHBOARDS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30303"/>
        </a:solidFill>
      </p:bgPr>
    </p:bg>
    <p:spTree>
      <p:nvGrpSpPr>
        <p:cNvPr id="1" name=""/>
        <p:cNvGrpSpPr/>
        <p:nvPr/>
      </p:nvGrpSpPr>
      <p:grpSpPr>
        <a:xfrm>
          <a:off x="0" y="0"/>
          <a:ext cx="0" cy="0"/>
          <a:chOff x="0" y="0"/>
          <a:chExt cx="0" cy="0"/>
        </a:xfrm>
      </p:grpSpPr>
      <p:sp>
        <p:nvSpPr>
          <p:cNvPr name="Freeform 2" id="2"/>
          <p:cNvSpPr/>
          <p:nvPr/>
        </p:nvSpPr>
        <p:spPr>
          <a:xfrm flipH="false" flipV="false" rot="0">
            <a:off x="1047507" y="1028700"/>
            <a:ext cx="16211793" cy="9081772"/>
          </a:xfrm>
          <a:custGeom>
            <a:avLst/>
            <a:gdLst/>
            <a:ahLst/>
            <a:cxnLst/>
            <a:rect r="r" b="b" t="t" l="l"/>
            <a:pathLst>
              <a:path h="9081772" w="16211793">
                <a:moveTo>
                  <a:pt x="0" y="0"/>
                </a:moveTo>
                <a:lnTo>
                  <a:pt x="16211793" y="0"/>
                </a:lnTo>
                <a:lnTo>
                  <a:pt x="16211793" y="9081772"/>
                </a:lnTo>
                <a:lnTo>
                  <a:pt x="0" y="9081772"/>
                </a:lnTo>
                <a:lnTo>
                  <a:pt x="0" y="0"/>
                </a:lnTo>
                <a:close/>
              </a:path>
            </a:pathLst>
          </a:custGeom>
          <a:blipFill>
            <a:blip r:embed="rId2"/>
            <a:stretch>
              <a:fillRect l="-95" t="-139" r="0" b="-591"/>
            </a:stretch>
          </a:blipFill>
        </p:spPr>
      </p:sp>
      <p:sp>
        <p:nvSpPr>
          <p:cNvPr name="TextBox 3" id="3"/>
          <p:cNvSpPr txBox="true"/>
          <p:nvPr/>
        </p:nvSpPr>
        <p:spPr>
          <a:xfrm rot="0">
            <a:off x="7870686" y="268828"/>
            <a:ext cx="2546628"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FFFFFF"/>
                </a:solidFill>
                <a:latin typeface="Glacial Indifference Bold"/>
                <a:ea typeface="Glacial Indifference Bold"/>
                <a:cs typeface="Glacial Indifference Bold"/>
                <a:sym typeface="Glacial Indifference Bold"/>
              </a:rPr>
              <a:t>DASHBOARDS </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208937" y="249778"/>
            <a:ext cx="3870127" cy="688975"/>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lacial Indifference Bold"/>
                <a:ea typeface="Glacial Indifference Bold"/>
                <a:cs typeface="Glacial Indifference Bold"/>
                <a:sym typeface="Glacial Indifference Bold"/>
              </a:rPr>
              <a:t>INTERPRÉT</a:t>
            </a:r>
            <a:r>
              <a:rPr lang="en-US" b="true" sz="3999">
                <a:solidFill>
                  <a:srgbClr val="000000"/>
                </a:solidFill>
                <a:latin typeface="Glacial Indifference Bold"/>
                <a:ea typeface="Glacial Indifference Bold"/>
                <a:cs typeface="Glacial Indifference Bold"/>
                <a:sym typeface="Glacial Indifference Bold"/>
              </a:rPr>
              <a:t>ATION</a:t>
            </a:r>
          </a:p>
        </p:txBody>
      </p:sp>
      <p:graphicFrame>
        <p:nvGraphicFramePr>
          <p:cNvPr name="Table 3" id="3"/>
          <p:cNvGraphicFramePr>
            <a:graphicFrameLocks noGrp="true"/>
          </p:cNvGraphicFramePr>
          <p:nvPr/>
        </p:nvGraphicFramePr>
        <p:xfrm>
          <a:off x="341168" y="1205567"/>
          <a:ext cx="17605663" cy="8648700"/>
        </p:xfrm>
        <a:graphic>
          <a:graphicData uri="http://schemas.openxmlformats.org/drawingml/2006/table">
            <a:tbl>
              <a:tblPr/>
              <a:tblGrid>
                <a:gridCol w="2736122"/>
                <a:gridCol w="14869542"/>
              </a:tblGrid>
              <a:tr h="1795200">
                <a:tc>
                  <a:txBody>
                    <a:bodyPr anchor="t" rtlCol="false"/>
                    <a:lstStyle/>
                    <a:p>
                      <a:pPr algn="ctr">
                        <a:lnSpc>
                          <a:spcPts val="2800"/>
                        </a:lnSpc>
                        <a:defRPr/>
                      </a:pPr>
                      <a:r>
                        <a:rPr lang="en-US" b="true" sz="2000">
                          <a:solidFill>
                            <a:srgbClr val="000000"/>
                          </a:solidFill>
                          <a:latin typeface="Glacial Indifference Bold"/>
                          <a:ea typeface="Glacial Indifference Bold"/>
                          <a:cs typeface="Glacial Indifference Bold"/>
                          <a:sym typeface="Glacial Indifference Bold"/>
                        </a:rPr>
                        <a:t>Vue Globale Mondiale</a:t>
                      </a:r>
                      <a:endParaRPr lang="en-US" sz="1100"/>
                    </a:p>
                  </a:txBody>
                  <a:tcPr marL="104775" marR="104775" marT="104775" marB="104775" anchor="ctr">
                    <a:lnL cmpd="sng" algn="ctr" cap="flat" w="47625">
                      <a:solidFill>
                        <a:srgbClr val="0097B2"/>
                      </a:solidFill>
                      <a:prstDash val="solid"/>
                      <a:round/>
                      <a:headEnd type="none" w="med" len="med"/>
                      <a:tailEnd type="none" w="med" len="med"/>
                    </a:lnL>
                    <a:lnR cmpd="sng" algn="ctr" cap="flat" w="47625">
                      <a:solidFill>
                        <a:srgbClr val="0097B2"/>
                      </a:solidFill>
                      <a:prstDash val="solid"/>
                      <a:round/>
                      <a:headEnd type="none" w="med" len="med"/>
                      <a:tailEnd type="none" w="med" len="med"/>
                    </a:lnR>
                    <a:lnT cmpd="sng" algn="ctr" cap="flat" w="47625">
                      <a:solidFill>
                        <a:srgbClr val="0097B2"/>
                      </a:solidFill>
                      <a:prstDash val="solid"/>
                      <a:round/>
                      <a:headEnd type="none" w="med" len="med"/>
                      <a:tailEnd type="none" w="med" len="med"/>
                    </a:lnT>
                    <a:lnB cmpd="sng" algn="ctr" cap="flat" w="47625">
                      <a:solidFill>
                        <a:srgbClr val="0097B2"/>
                      </a:solidFill>
                      <a:prstDash val="solid"/>
                      <a:round/>
                      <a:headEnd type="none" w="med" len="med"/>
                      <a:tailEnd type="none" w="med" len="med"/>
                    </a:lnB>
                    <a:solidFill>
                      <a:srgbClr val="0097B2"/>
                    </a:solidFill>
                  </a:tcPr>
                </a:tc>
                <a:tc>
                  <a:txBody>
                    <a:bodyPr anchor="t" rtlCol="false"/>
                    <a:lstStyle/>
                    <a:p>
                      <a:pPr algn="l">
                        <a:lnSpc>
                          <a:spcPts val="2800"/>
                        </a:lnSpc>
                        <a:defRPr/>
                      </a:pPr>
                      <a:r>
                        <a:rPr lang="en-US" sz="2000">
                          <a:solidFill>
                            <a:srgbClr val="000000"/>
                          </a:solidFill>
                          <a:latin typeface="Glacial Indifference"/>
                          <a:ea typeface="Glacial Indifference"/>
                          <a:cs typeface="Glacial Indifference"/>
                          <a:sym typeface="Glacial Indifference"/>
                        </a:rPr>
                        <a:t>Le marché agricole mondial sur la pé</a:t>
                      </a:r>
                      <a:r>
                        <a:rPr lang="en-US" sz="2000">
                          <a:solidFill>
                            <a:srgbClr val="000000"/>
                          </a:solidFill>
                          <a:latin typeface="Glacial Indifference"/>
                          <a:ea typeface="Glacial Indifference"/>
                          <a:cs typeface="Glacial Indifference"/>
                          <a:sym typeface="Glacial Indifference"/>
                        </a:rPr>
                        <a:t>riode 2015–2024 révèle une pressi</a:t>
                      </a:r>
                      <a:r>
                        <a:rPr lang="en-US" sz="2000">
                          <a:solidFill>
                            <a:srgbClr val="000000"/>
                          </a:solidFill>
                          <a:latin typeface="Glacial Indifference"/>
                          <a:ea typeface="Glacial Indifference"/>
                          <a:cs typeface="Glacial Indifference"/>
                          <a:sym typeface="Glacial Indifference"/>
                        </a:rPr>
                        <a:t>on inflationniste structurelle sur les prix. Avec un prix moyen de $1,62K sur 140 pays, la tendance haussière continue — surtout après 2020 — témoigne d'un marché de plus en plus tendu. Les produits les plus valorisés ne sont pas les cultures de masse, mais des produits rares et spécialisés (viandes exotiques, épices), ce qui indique que la rareté et la spécialisation sont des moteurs clés de la valeur agricole mondiale.</a:t>
                      </a:r>
                      <a:endParaRPr lang="en-US" sz="1100"/>
                    </a:p>
                  </a:txBody>
                  <a:tcPr marL="104775" marR="104775" marT="104775" marB="104775" anchor="ctr">
                    <a:lnL cmpd="sng" algn="ctr" cap="flat" w="47625">
                      <a:solidFill>
                        <a:srgbClr val="0097B2"/>
                      </a:solidFill>
                      <a:prstDash val="solid"/>
                      <a:round/>
                      <a:headEnd type="none" w="med" len="med"/>
                      <a:tailEnd type="none" w="med" len="med"/>
                    </a:lnL>
                    <a:lnR cmpd="sng" algn="ctr" cap="flat" w="47625">
                      <a:solidFill>
                        <a:srgbClr val="0097B2"/>
                      </a:solidFill>
                      <a:prstDash val="solid"/>
                      <a:round/>
                      <a:headEnd type="none" w="med" len="med"/>
                      <a:tailEnd type="none" w="med" len="med"/>
                    </a:lnR>
                    <a:lnT cmpd="sng" algn="ctr" cap="flat" w="47625">
                      <a:solidFill>
                        <a:srgbClr val="0097B2"/>
                      </a:solidFill>
                      <a:prstDash val="solid"/>
                      <a:round/>
                      <a:headEnd type="none" w="med" len="med"/>
                      <a:tailEnd type="none" w="med" len="med"/>
                    </a:lnT>
                    <a:lnB cmpd="sng" algn="ctr" cap="flat" w="47625">
                      <a:solidFill>
                        <a:srgbClr val="0097B2"/>
                      </a:solidFill>
                      <a:prstDash val="solid"/>
                      <a:round/>
                      <a:headEnd type="none" w="med" len="med"/>
                      <a:tailEnd type="none" w="med" len="med"/>
                    </a:lnB>
                  </a:tcPr>
                </a:tc>
              </a:tr>
              <a:tr h="2529150">
                <a:tc>
                  <a:txBody>
                    <a:bodyPr anchor="t" rtlCol="false"/>
                    <a:lstStyle/>
                    <a:p>
                      <a:pPr algn="ctr">
                        <a:lnSpc>
                          <a:spcPts val="2800"/>
                        </a:lnSpc>
                        <a:defRPr/>
                      </a:pPr>
                      <a:r>
                        <a:rPr lang="en-US" sz="2000" b="true">
                          <a:solidFill>
                            <a:srgbClr val="000000"/>
                          </a:solidFill>
                          <a:latin typeface="Glacial Indifference Bold"/>
                          <a:ea typeface="Glacial Indifference Bold"/>
                          <a:cs typeface="Glacial Indifference Bold"/>
                          <a:sym typeface="Glacial Indifference Bold"/>
                        </a:rPr>
                        <a:t>Facteurs Économiques</a:t>
                      </a:r>
                      <a:endParaRPr lang="en-US" sz="1100"/>
                    </a:p>
                  </a:txBody>
                  <a:tcPr marL="104775" marR="104775" marT="104775" marB="104775" anchor="ctr">
                    <a:lnL cmpd="sng" algn="ctr" cap="flat" w="19050">
                      <a:solidFill>
                        <a:srgbClr val="B2A340"/>
                      </a:solidFill>
                      <a:prstDash val="solid"/>
                      <a:round/>
                      <a:headEnd type="none" w="med" len="med"/>
                      <a:tailEnd type="none" w="med" len="med"/>
                    </a:lnL>
                    <a:lnR cmpd="sng" algn="ctr" cap="flat" w="19050">
                      <a:solidFill>
                        <a:srgbClr val="B2A340"/>
                      </a:solidFill>
                      <a:prstDash val="solid"/>
                      <a:round/>
                      <a:headEnd type="none" w="med" len="med"/>
                      <a:tailEnd type="none" w="med" len="med"/>
                    </a:lnR>
                    <a:lnT cmpd="sng" algn="ctr" cap="flat" w="19050">
                      <a:solidFill>
                        <a:srgbClr val="B2A340"/>
                      </a:solidFill>
                      <a:prstDash val="solid"/>
                      <a:round/>
                      <a:headEnd type="none" w="med" len="med"/>
                      <a:tailEnd type="none" w="med" len="med"/>
                    </a:lnT>
                    <a:lnB cmpd="sng" algn="ctr" cap="flat" w="19050">
                      <a:solidFill>
                        <a:srgbClr val="B2A340"/>
                      </a:solidFill>
                      <a:prstDash val="solid"/>
                      <a:round/>
                      <a:headEnd type="none" w="med" len="med"/>
                      <a:tailEnd type="none" w="med" len="med"/>
                    </a:lnB>
                    <a:solidFill>
                      <a:srgbClr val="B2A340"/>
                    </a:solidFill>
                  </a:tcPr>
                </a:tc>
                <a:tc>
                  <a:txBody>
                    <a:bodyPr anchor="t" rtlCol="false"/>
                    <a:lstStyle/>
                    <a:p>
                      <a:pPr algn="l">
                        <a:lnSpc>
                          <a:spcPts val="2800"/>
                        </a:lnSpc>
                        <a:defRPr/>
                      </a:pPr>
                      <a:r>
                        <a:rPr lang="en-US" sz="2000">
                          <a:solidFill>
                            <a:srgbClr val="000000"/>
                          </a:solidFill>
                          <a:latin typeface="Glacial Indifference"/>
                          <a:ea typeface="Glacial Indifference"/>
                          <a:cs typeface="Glacial Indifference"/>
                          <a:sym typeface="Glacial Indifference"/>
                        </a:rPr>
                        <a:t>L'analyse économique révèle une forte hétérogénéité mondiale. Les pays à inflation extrême (Zimbabwe, Argentine, Liban) représentent des cas d'instabilité macroécon</a:t>
                      </a:r>
                      <a:r>
                        <a:rPr lang="en-US" sz="2000">
                          <a:solidFill>
                            <a:srgbClr val="000000"/>
                          </a:solidFill>
                          <a:latin typeface="Glacial Indifference"/>
                          <a:ea typeface="Glacial Indifference"/>
                          <a:cs typeface="Glacial Indifference"/>
                          <a:sym typeface="Glacial Indifference"/>
                        </a:rPr>
                        <a:t>omique sévère, sans que cela se traduise nécessairement par des prix agricoles plus élevés — ce qui suggère que l'inflation ne profite pas au producteur agricole. Par ailleurs, un GDP élevé n'implique pas une</a:t>
                      </a:r>
                      <a:r>
                        <a:rPr lang="en-US" sz="2000">
                          <a:solidFill>
                            <a:srgbClr val="000000"/>
                          </a:solidFill>
                          <a:latin typeface="Glacial Indifference"/>
                          <a:ea typeface="Glacial Indifference"/>
                          <a:cs typeface="Glacial Indifference"/>
                          <a:sym typeface="Glacial Indifference"/>
                        </a:rPr>
                        <a:t> production agricole importante : les grandes économies (USA, Chine) sont davantage tournées vers l'industrie et </a:t>
                      </a:r>
                      <a:r>
                        <a:rPr lang="en-US" sz="2000">
                          <a:solidFill>
                            <a:srgbClr val="000000"/>
                          </a:solidFill>
                          <a:latin typeface="Glacial Indifference"/>
                          <a:ea typeface="Glacial Indifference"/>
                          <a:cs typeface="Glacial Indifference"/>
                          <a:sym typeface="Glacial Indifference"/>
                        </a:rPr>
                        <a:t>les services. Le facteur économique influence donc indirectement les prix agricoles, principalement via les coûts de production et le pouvoir d'achat.</a:t>
                      </a:r>
                      <a:endParaRPr lang="en-US" sz="1100"/>
                    </a:p>
                  </a:txBody>
                  <a:tcPr marL="104775" marR="104775" marT="104775" marB="104775" anchor="ctr">
                    <a:lnL cmpd="sng" algn="ctr" cap="flat" w="47625">
                      <a:solidFill>
                        <a:srgbClr val="B2A340"/>
                      </a:solidFill>
                      <a:prstDash val="solid"/>
                      <a:round/>
                      <a:headEnd type="none" w="med" len="med"/>
                      <a:tailEnd type="none" w="med" len="med"/>
                    </a:lnL>
                    <a:lnR cmpd="sng" algn="ctr" cap="flat" w="47625">
                      <a:solidFill>
                        <a:srgbClr val="B2A340"/>
                      </a:solidFill>
                      <a:prstDash val="solid"/>
                      <a:round/>
                      <a:headEnd type="none" w="med" len="med"/>
                      <a:tailEnd type="none" w="med" len="med"/>
                    </a:lnR>
                    <a:lnT cmpd="sng" algn="ctr" cap="flat" w="47625">
                      <a:solidFill>
                        <a:srgbClr val="B2A340"/>
                      </a:solidFill>
                      <a:prstDash val="solid"/>
                      <a:round/>
                      <a:headEnd type="none" w="med" len="med"/>
                      <a:tailEnd type="none" w="med" len="med"/>
                    </a:lnT>
                    <a:lnB cmpd="sng" algn="ctr" cap="flat" w="47625">
                      <a:solidFill>
                        <a:srgbClr val="B2A340"/>
                      </a:solidFill>
                      <a:prstDash val="solid"/>
                      <a:round/>
                      <a:headEnd type="none" w="med" len="med"/>
                      <a:tailEnd type="none" w="med" len="med"/>
                    </a:lnB>
                  </a:tcPr>
                </a:tc>
              </a:tr>
              <a:tr h="2162175">
                <a:tc>
                  <a:txBody>
                    <a:bodyPr anchor="t" rtlCol="false"/>
                    <a:lstStyle/>
                    <a:p>
                      <a:pPr algn="ctr">
                        <a:lnSpc>
                          <a:spcPts val="2800"/>
                        </a:lnSpc>
                        <a:defRPr/>
                      </a:pPr>
                      <a:r>
                        <a:rPr lang="en-US" sz="2000" b="true">
                          <a:solidFill>
                            <a:srgbClr val="000000"/>
                          </a:solidFill>
                          <a:latin typeface="Glacial Indifference Bold"/>
                          <a:ea typeface="Glacial Indifference Bold"/>
                          <a:cs typeface="Glacial Indifference Bold"/>
                          <a:sym typeface="Glacial Indifference Bold"/>
                        </a:rPr>
                        <a:t>Facteurs Climatiques</a:t>
                      </a:r>
                      <a:endParaRPr lang="en-US" sz="1100"/>
                    </a:p>
                  </a:txBody>
                  <a:tcPr marL="104775" marR="104775" marT="104775" marB="104775" anchor="ctr">
                    <a:lnL cmpd="sng" algn="ctr" cap="flat" w="19050">
                      <a:solidFill>
                        <a:srgbClr val="46BFC7"/>
                      </a:solidFill>
                      <a:prstDash val="solid"/>
                      <a:round/>
                      <a:headEnd type="none" w="med" len="med"/>
                      <a:tailEnd type="none" w="med" len="med"/>
                    </a:lnL>
                    <a:lnR cmpd="sng" algn="ctr" cap="flat" w="19050">
                      <a:solidFill>
                        <a:srgbClr val="46BFC7"/>
                      </a:solidFill>
                      <a:prstDash val="solid"/>
                      <a:round/>
                      <a:headEnd type="none" w="med" len="med"/>
                      <a:tailEnd type="none" w="med" len="med"/>
                    </a:lnR>
                    <a:lnT cmpd="sng" algn="ctr" cap="flat" w="19050">
                      <a:solidFill>
                        <a:srgbClr val="46BFC7"/>
                      </a:solidFill>
                      <a:prstDash val="solid"/>
                      <a:round/>
                      <a:headEnd type="none" w="med" len="med"/>
                      <a:tailEnd type="none" w="med" len="med"/>
                    </a:lnT>
                    <a:lnB cmpd="sng" algn="ctr" cap="flat" w="19050">
                      <a:solidFill>
                        <a:srgbClr val="46BFC7"/>
                      </a:solidFill>
                      <a:prstDash val="solid"/>
                      <a:round/>
                      <a:headEnd type="none" w="med" len="med"/>
                      <a:tailEnd type="none" w="med" len="med"/>
                    </a:lnB>
                    <a:solidFill>
                      <a:srgbClr val="46BFC7"/>
                    </a:solidFill>
                  </a:tcPr>
                </a:tc>
                <a:tc>
                  <a:txBody>
                    <a:bodyPr anchor="t" rtlCol="false"/>
                    <a:lstStyle/>
                    <a:p>
                      <a:pPr algn="l">
                        <a:lnSpc>
                          <a:spcPts val="2800"/>
                        </a:lnSpc>
                        <a:defRPr/>
                      </a:pPr>
                      <a:r>
                        <a:rPr lang="en-US" sz="2000">
                          <a:solidFill>
                            <a:srgbClr val="000000"/>
                          </a:solidFill>
                          <a:latin typeface="Glacial Indifference"/>
                          <a:ea typeface="Glacial Indifference"/>
                          <a:cs typeface="Glacial Indifference"/>
                          <a:sym typeface="Glacial Indifference"/>
                        </a:rPr>
                        <a:t>Le climat s'imp</a:t>
                      </a:r>
                      <a:r>
                        <a:rPr lang="en-US" sz="2000">
                          <a:solidFill>
                            <a:srgbClr val="000000"/>
                          </a:solidFill>
                          <a:latin typeface="Glacial Indifference"/>
                          <a:ea typeface="Glacial Indifference"/>
                          <a:cs typeface="Glacial Indifference"/>
                          <a:sym typeface="Glacial Indifference"/>
                        </a:rPr>
                        <a:t>ose comme un facteur déterminant de la productivité agricole. La corrélation positive entre précipitations et productivité confirme que les régions bien arrosées produisent davantage. La forte variabilité des précipitations après 2018, combinée à la hausse des prix, suggère que les chocs climatiques alimentent directement la volatilité des prix agricoles. Avec une température maximale moyenne de 25,48°C, de nombreuses régions commencent à approcher des seuils critiques pour certaines cultures, ce qui pose un risque croissant pour la sécurité alimentaire mondiale.</a:t>
                      </a:r>
                      <a:endParaRPr lang="en-US" sz="1100"/>
                    </a:p>
                  </a:txBody>
                  <a:tcPr marL="104775" marR="104775" marT="104775" marB="104775" anchor="ctr">
                    <a:lnL cmpd="sng" algn="ctr" cap="flat" w="47625">
                      <a:solidFill>
                        <a:srgbClr val="46BFC7"/>
                      </a:solidFill>
                      <a:prstDash val="solid"/>
                      <a:round/>
                      <a:headEnd type="none" w="med" len="med"/>
                      <a:tailEnd type="none" w="med" len="med"/>
                    </a:lnL>
                    <a:lnR cmpd="sng" algn="ctr" cap="flat" w="47625">
                      <a:solidFill>
                        <a:srgbClr val="46BFC7"/>
                      </a:solidFill>
                      <a:prstDash val="solid"/>
                      <a:round/>
                      <a:headEnd type="none" w="med" len="med"/>
                      <a:tailEnd type="none" w="med" len="med"/>
                    </a:lnR>
                    <a:lnT cmpd="sng" algn="ctr" cap="flat" w="47625">
                      <a:solidFill>
                        <a:srgbClr val="46BFC7"/>
                      </a:solidFill>
                      <a:prstDash val="solid"/>
                      <a:round/>
                      <a:headEnd type="none" w="med" len="med"/>
                      <a:tailEnd type="none" w="med" len="med"/>
                    </a:lnT>
                    <a:lnB cmpd="sng" algn="ctr" cap="flat" w="47625">
                      <a:solidFill>
                        <a:srgbClr val="46BFC7"/>
                      </a:solidFill>
                      <a:prstDash val="solid"/>
                      <a:round/>
                      <a:headEnd type="none" w="med" len="med"/>
                      <a:tailEnd type="none" w="med" len="med"/>
                    </a:lnB>
                  </a:tcPr>
                </a:tc>
              </a:tr>
              <a:tr h="2162175">
                <a:tc>
                  <a:txBody>
                    <a:bodyPr anchor="t" rtlCol="false"/>
                    <a:lstStyle/>
                    <a:p>
                      <a:pPr algn="ctr">
                        <a:lnSpc>
                          <a:spcPts val="2800"/>
                        </a:lnSpc>
                        <a:defRPr/>
                      </a:pPr>
                      <a:r>
                        <a:rPr lang="en-US" sz="2000" b="true">
                          <a:solidFill>
                            <a:srgbClr val="000000"/>
                          </a:solidFill>
                          <a:latin typeface="Glacial Indifference Bold"/>
                          <a:ea typeface="Glacial Indifference Bold"/>
                          <a:cs typeface="Glacial Indifference Bold"/>
                          <a:sym typeface="Glacial Indifference Bold"/>
                        </a:rPr>
                        <a:t>Production Agricole</a:t>
                      </a:r>
                      <a:endParaRPr lang="en-US" sz="1100"/>
                    </a:p>
                  </a:txBody>
                  <a:tcPr marL="104775" marR="104775" marT="104775" marB="104775" anchor="ctr">
                    <a:lnL cmpd="sng" algn="ctr" cap="flat" w="19050">
                      <a:solidFill>
                        <a:srgbClr val="8A1111"/>
                      </a:solidFill>
                      <a:prstDash val="solid"/>
                      <a:round/>
                      <a:headEnd type="none" w="med" len="med"/>
                      <a:tailEnd type="none" w="med" len="med"/>
                    </a:lnL>
                    <a:lnR cmpd="sng" algn="ctr" cap="flat" w="19050">
                      <a:solidFill>
                        <a:srgbClr val="8A1111"/>
                      </a:solidFill>
                      <a:prstDash val="solid"/>
                      <a:round/>
                      <a:headEnd type="none" w="med" len="med"/>
                      <a:tailEnd type="none" w="med" len="med"/>
                    </a:lnR>
                    <a:lnT cmpd="sng" algn="ctr" cap="flat" w="19050">
                      <a:solidFill>
                        <a:srgbClr val="8A1111"/>
                      </a:solidFill>
                      <a:prstDash val="solid"/>
                      <a:round/>
                      <a:headEnd type="none" w="med" len="med"/>
                      <a:tailEnd type="none" w="med" len="med"/>
                    </a:lnT>
                    <a:lnB cmpd="sng" algn="ctr" cap="flat" w="19050">
                      <a:solidFill>
                        <a:srgbClr val="8A1111"/>
                      </a:solidFill>
                      <a:prstDash val="solid"/>
                      <a:round/>
                      <a:headEnd type="none" w="med" len="med"/>
                      <a:tailEnd type="none" w="med" len="med"/>
                    </a:lnB>
                    <a:solidFill>
                      <a:srgbClr val="8A1111"/>
                    </a:solidFill>
                  </a:tcPr>
                </a:tc>
                <a:tc>
                  <a:txBody>
                    <a:bodyPr anchor="t" rtlCol="false"/>
                    <a:lstStyle/>
                    <a:p>
                      <a:pPr algn="l">
                        <a:lnSpc>
                          <a:spcPts val="2800"/>
                        </a:lnSpc>
                        <a:defRPr/>
                      </a:pPr>
                      <a:r>
                        <a:rPr lang="en-US" sz="2000">
                          <a:solidFill>
                            <a:srgbClr val="000000"/>
                          </a:solidFill>
                          <a:latin typeface="Glacial Indifference"/>
                          <a:ea typeface="Glacial Indifference"/>
                          <a:cs typeface="Glacial Indifference"/>
                          <a:sym typeface="Glacial Indifference"/>
                        </a:rPr>
                        <a:t>La production mondiale suit une trajectoire de croissance continue, portée principalement par les cultures de masse (sucre, riz, viande). Cependant, le graphique prix vs indice consommateur révèle un décrochage préoccupant : depuis 2020, les prix producteurs augmentent bien plus vite que l'indice consommateur, ce qui comprime les marges et fragilise les chaînes d'approvisionnement. Ce phénomène traduit une crise de transmission des prix entre producteurs et consommateurs, probablement amplifiée par les perturbations logistiques post-Covid et les tensions géopolitiques.</a:t>
                      </a:r>
                      <a:endParaRPr lang="en-US" sz="1100"/>
                    </a:p>
                  </a:txBody>
                  <a:tcPr marL="104775" marR="104775" marT="104775" marB="104775" anchor="ctr">
                    <a:lnL cmpd="sng" algn="ctr" cap="flat" w="47625">
                      <a:solidFill>
                        <a:srgbClr val="8A1111"/>
                      </a:solidFill>
                      <a:prstDash val="solid"/>
                      <a:round/>
                      <a:headEnd type="none" w="med" len="med"/>
                      <a:tailEnd type="none" w="med" len="med"/>
                    </a:lnL>
                    <a:lnR cmpd="sng" algn="ctr" cap="flat" w="47625">
                      <a:solidFill>
                        <a:srgbClr val="8A1111"/>
                      </a:solidFill>
                      <a:prstDash val="solid"/>
                      <a:round/>
                      <a:headEnd type="none" w="med" len="med"/>
                      <a:tailEnd type="none" w="med" len="med"/>
                    </a:lnR>
                    <a:lnT cmpd="sng" algn="ctr" cap="flat" w="47625">
                      <a:solidFill>
                        <a:srgbClr val="8A1111"/>
                      </a:solidFill>
                      <a:prstDash val="solid"/>
                      <a:round/>
                      <a:headEnd type="none" w="med" len="med"/>
                      <a:tailEnd type="none" w="med" len="med"/>
                    </a:lnT>
                    <a:lnB cmpd="sng" algn="ctr" cap="flat" w="47625">
                      <a:solidFill>
                        <a:srgbClr val="8A1111"/>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557748" y="3333750"/>
            <a:ext cx="10862787" cy="1809750"/>
          </a:xfrm>
          <a:prstGeom prst="rect">
            <a:avLst/>
          </a:prstGeom>
        </p:spPr>
        <p:txBody>
          <a:bodyPr anchor="t" rtlCol="false" tIns="0" lIns="0" bIns="0" rIns="0">
            <a:spAutoFit/>
          </a:bodyPr>
          <a:lstStyle/>
          <a:p>
            <a:pPr algn="ctr">
              <a:lnSpc>
                <a:spcPts val="14700"/>
              </a:lnSpc>
              <a:spcBef>
                <a:spcPct val="0"/>
              </a:spcBef>
            </a:pPr>
            <a:r>
              <a:rPr lang="en-US" b="true" sz="10500" u="sng">
                <a:solidFill>
                  <a:srgbClr val="000000"/>
                </a:solidFill>
                <a:latin typeface="Glacial Indifference Bold"/>
                <a:ea typeface="Glacial Indifference Bold"/>
                <a:cs typeface="Glacial Indifference Bold"/>
                <a:sym typeface="Glacial Indifference Bold"/>
              </a:rPr>
              <a:t>DEMONSTARTION</a:t>
            </a: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265426" y="339725"/>
            <a:ext cx="5757148" cy="688975"/>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lacial Indifference Bold"/>
                <a:ea typeface="Glacial Indifference Bold"/>
                <a:cs typeface="Glacial Indifference Bold"/>
                <a:sym typeface="Glacial Indifference Bold"/>
              </a:rPr>
              <a:t>CONCLUSION GÉNÉRALE</a:t>
            </a:r>
          </a:p>
        </p:txBody>
      </p:sp>
      <p:graphicFrame>
        <p:nvGraphicFramePr>
          <p:cNvPr name="Table 3" id="3"/>
          <p:cNvGraphicFramePr>
            <a:graphicFrameLocks noGrp="true"/>
          </p:cNvGraphicFramePr>
          <p:nvPr/>
        </p:nvGraphicFramePr>
        <p:xfrm>
          <a:off x="1248199" y="1457325"/>
          <a:ext cx="15791603" cy="7800975"/>
        </p:xfrm>
        <a:graphic>
          <a:graphicData uri="http://schemas.openxmlformats.org/drawingml/2006/table">
            <a:tbl>
              <a:tblPr/>
              <a:tblGrid>
                <a:gridCol w="15791603"/>
              </a:tblGrid>
              <a:tr h="7800975">
                <a:tc>
                  <a:txBody>
                    <a:bodyPr anchor="t" rtlCol="false"/>
                    <a:lstStyle/>
                    <a:p>
                      <a:pPr algn="l">
                        <a:lnSpc>
                          <a:spcPts val="4200"/>
                        </a:lnSpc>
                        <a:defRPr/>
                      </a:pPr>
                      <a:r>
                        <a:rPr lang="en-US" sz="3000">
                          <a:solidFill>
                            <a:srgbClr val="000000"/>
                          </a:solidFill>
                          <a:latin typeface="Glacial Indifference"/>
                          <a:ea typeface="Glacial Indifference"/>
                          <a:cs typeface="Glacial Indifference"/>
                          <a:sym typeface="Glacial Indifference"/>
                        </a:rPr>
                        <a:t>Cette étude a analysé l'évolution des prix agricoles mondiaux sur une décennie à travers trois facteurs clés : économique, climatique et productif.</a:t>
                      </a:r>
                      <a:endParaRPr lang="en-US" sz="1100"/>
                    </a:p>
                    <a:p>
                      <a:pPr algn="l">
                        <a:lnSpc>
                          <a:spcPts val="4200"/>
                        </a:lnSpc>
                      </a:pPr>
                      <a:r>
                        <a:rPr lang="en-US" sz="3000">
                          <a:solidFill>
                            <a:srgbClr val="000000"/>
                          </a:solidFill>
                          <a:latin typeface="Glacial Indifference"/>
                          <a:ea typeface="Glacial Indifference"/>
                          <a:cs typeface="Glacial Indifference"/>
                          <a:sym typeface="Glacial Indifference"/>
                        </a:rPr>
                        <a:t>Il en ressort que les prix agricoles sont soumis à des pressions croissantes et interconnectées. L'instabilité économique fragilise les producteurs sans les protéger de l'inflation. Le dérèglement climatique menace directement les rendements agricoles des régions les plus vulnérables. Et le décrochage entre prix producteurs et indice consommateur depuis 2020 révèle une chaîne de valeur agricole de plus en plus sous tension.</a:t>
                      </a:r>
                    </a:p>
                    <a:p>
                      <a:pPr algn="l">
                        <a:lnSpc>
                          <a:spcPts val="4200"/>
                        </a:lnSpc>
                      </a:pPr>
                      <a:r>
                        <a:rPr lang="en-US" sz="3000">
                          <a:solidFill>
                            <a:srgbClr val="000000"/>
                          </a:solidFill>
                          <a:latin typeface="Glacial Indifference"/>
                          <a:ea typeface="Glacial Indifference"/>
                          <a:cs typeface="Glacial Indifference"/>
                          <a:sym typeface="Glacial Indifference"/>
                        </a:rPr>
                        <a:t>Au-delà des chiffres, cette analyse confirme que l'agriculture mondiale traverse une période de vulnérabilité structurelle, où aucun facteur ne peut être traité isolément. Climat, économie et production forment un système interdépendant dont l'équilibre conditionne directement la sécurité alimentaire de milliards de personnes.</a:t>
                      </a:r>
                    </a:p>
                    <a:p>
                      <a:pPr algn="l">
                        <a:lnSpc>
                          <a:spcPts val="4200"/>
                        </a:lnSpc>
                      </a:pPr>
                      <a:r>
                        <a:rPr lang="en-US" sz="3000">
                          <a:solidFill>
                            <a:srgbClr val="000000"/>
                          </a:solidFill>
                          <a:latin typeface="Glacial Indifference"/>
                          <a:ea typeface="Glacial Indifference"/>
                          <a:cs typeface="Glacial Indifference"/>
                          <a:sym typeface="Glacial Indifference"/>
                        </a:rPr>
                        <a:t>Agir sur l'un, c'est agir sur tous. Et ne pas agir, c'est accepter l'instabilité comme nouvelle norme.</a:t>
                      </a:r>
                    </a:p>
                    <a:p>
                      <a:pPr algn="l">
                        <a:lnSpc>
                          <a:spcPts val="4200"/>
                        </a:lnSpc>
                      </a:pPr>
                    </a:p>
                  </a:txBody>
                  <a:tcPr marL="104775" marR="104775" marT="104775" marB="104775" anchor="ctr">
                    <a:lnL cmpd="sng" algn="ctr" cap="flat" w="57150">
                      <a:solidFill>
                        <a:srgbClr val="8A1111"/>
                      </a:solidFill>
                      <a:prstDash val="solid"/>
                      <a:round/>
                      <a:headEnd type="none" w="med" len="med"/>
                      <a:tailEnd type="none" w="med" len="med"/>
                    </a:lnL>
                    <a:lnR cmpd="sng" algn="ctr" cap="flat" w="57150">
                      <a:solidFill>
                        <a:srgbClr val="8A1111"/>
                      </a:solidFill>
                      <a:prstDash val="solid"/>
                      <a:round/>
                      <a:headEnd type="none" w="med" len="med"/>
                      <a:tailEnd type="none" w="med" len="med"/>
                    </a:lnR>
                    <a:lnT cmpd="sng" algn="ctr" cap="flat" w="57150">
                      <a:solidFill>
                        <a:srgbClr val="8A1111"/>
                      </a:solidFill>
                      <a:prstDash val="solid"/>
                      <a:round/>
                      <a:headEnd type="none" w="med" len="med"/>
                      <a:tailEnd type="none" w="med" len="med"/>
                    </a:lnT>
                    <a:lnB cmpd="sng" algn="ctr" cap="flat" w="57150">
                      <a:solidFill>
                        <a:srgbClr val="8A1111"/>
                      </a:solidFill>
                      <a:prstDash val="solid"/>
                      <a:round/>
                      <a:headEnd type="none" w="med" len="med"/>
                      <a:tailEnd type="none" w="med" len="med"/>
                    </a:lnB>
                  </a:tcPr>
                </a:tc>
              </a:tr>
            </a:tbl>
          </a:graphicData>
        </a:graphic>
      </p:graphicFrame>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654723" y="5597010"/>
            <a:ext cx="22867397" cy="5884615"/>
          </a:xfrm>
          <a:custGeom>
            <a:avLst/>
            <a:gdLst/>
            <a:ahLst/>
            <a:cxnLst/>
            <a:rect r="r" b="b" t="t" l="l"/>
            <a:pathLst>
              <a:path h="5884615" w="22867397">
                <a:moveTo>
                  <a:pt x="0" y="0"/>
                </a:moveTo>
                <a:lnTo>
                  <a:pt x="22867397" y="0"/>
                </a:lnTo>
                <a:lnTo>
                  <a:pt x="22867397" y="5884615"/>
                </a:lnTo>
                <a:lnTo>
                  <a:pt x="0" y="5884615"/>
                </a:lnTo>
                <a:lnTo>
                  <a:pt x="0" y="0"/>
                </a:lnTo>
                <a:close/>
              </a:path>
            </a:pathLst>
          </a:custGeom>
          <a:blipFill>
            <a:blip r:embed="rId2">
              <a:alphaModFix amt="79000"/>
            </a:blip>
            <a:stretch>
              <a:fillRect l="0" t="-83414" r="0" b="-75650"/>
            </a:stretch>
          </a:blipFill>
        </p:spPr>
      </p:sp>
      <p:sp>
        <p:nvSpPr>
          <p:cNvPr name="TextBox 3" id="3"/>
          <p:cNvSpPr txBox="true"/>
          <p:nvPr/>
        </p:nvSpPr>
        <p:spPr>
          <a:xfrm rot="0">
            <a:off x="0" y="1466850"/>
            <a:ext cx="17978282" cy="3676650"/>
          </a:xfrm>
          <a:prstGeom prst="rect">
            <a:avLst/>
          </a:prstGeom>
        </p:spPr>
        <p:txBody>
          <a:bodyPr anchor="t" rtlCol="false" tIns="0" lIns="0" bIns="0" rIns="0">
            <a:spAutoFit/>
          </a:bodyPr>
          <a:lstStyle/>
          <a:p>
            <a:pPr algn="ctr">
              <a:lnSpc>
                <a:spcPts val="14700"/>
              </a:lnSpc>
              <a:spcBef>
                <a:spcPct val="0"/>
              </a:spcBef>
            </a:pPr>
            <a:r>
              <a:rPr lang="en-US" b="true" sz="10500">
                <a:solidFill>
                  <a:srgbClr val="000000"/>
                </a:solidFill>
                <a:latin typeface="Glacial Indifference Bold"/>
                <a:ea typeface="Glacial Indifference Bold"/>
                <a:cs typeface="Glacial Indifference Bold"/>
                <a:sym typeface="Glacial Indifference Bold"/>
              </a:rPr>
              <a:t>MERCI POUR VOTRE</a:t>
            </a:r>
            <a:r>
              <a:rPr lang="en-US" b="true" sz="10500" u="sng">
                <a:solidFill>
                  <a:srgbClr val="000000"/>
                </a:solidFill>
                <a:latin typeface="Glacial Indifference Bold"/>
                <a:ea typeface="Glacial Indifference Bold"/>
                <a:cs typeface="Glacial Indifference Bold"/>
                <a:sym typeface="Glacial Indifference Bold"/>
              </a:rPr>
              <a:t>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DAHFi9cXjSo</dc:identifier>
  <dcterms:modified xsi:type="dcterms:W3CDTF">2011-08-01T06:04:30Z</dcterms:modified>
  <cp:revision>1</cp:revision>
  <dc:title>Analyse des Prix Alimentaires Mondiaux (2015–2025)</dc:title>
</cp:coreProperties>
</file>